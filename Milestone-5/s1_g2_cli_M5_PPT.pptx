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Helvetica World Bold" charset="1" panose="020B0800040000020004"/>
      <p:regular r:id="rId24"/>
    </p:embeddedFont>
    <p:embeddedFont>
      <p:font typeface="Canva Sans Bold" charset="1" panose="020B0803030501040103"/>
      <p:regular r:id="rId25"/>
    </p:embeddedFont>
    <p:embeddedFont>
      <p:font typeface="Canva Sans" charset="1" panose="020B0503030501040103"/>
      <p:regular r:id="rId26"/>
    </p:embeddedFont>
    <p:embeddedFont>
      <p:font typeface="Canva Sans Italics" charset="1" panose="020B0503030501040103"/>
      <p:regular r:id="rId27"/>
    </p:embeddedFont>
    <p:embeddedFont>
      <p:font typeface="Courier Prime" charset="1" panose="00000509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3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36.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11130196" y="851437"/>
            <a:ext cx="5893203" cy="1999859"/>
            <a:chOff x="0" y="0"/>
            <a:chExt cx="7857604" cy="2666479"/>
          </a:xfrm>
        </p:grpSpPr>
        <p:sp>
          <p:nvSpPr>
            <p:cNvPr name="Freeform 9" id="9"/>
            <p:cNvSpPr/>
            <p:nvPr/>
          </p:nvSpPr>
          <p:spPr>
            <a:xfrm flipH="false" flipV="false" rot="0">
              <a:off x="0" y="0"/>
              <a:ext cx="7857617" cy="2666492"/>
            </a:xfrm>
            <a:custGeom>
              <a:avLst/>
              <a:gdLst/>
              <a:ahLst/>
              <a:cxnLst/>
              <a:rect r="r" b="b" t="t" l="l"/>
              <a:pathLst>
                <a:path h="2666492" w="7857617">
                  <a:moveTo>
                    <a:pt x="0" y="0"/>
                  </a:moveTo>
                  <a:lnTo>
                    <a:pt x="7857617" y="0"/>
                  </a:lnTo>
                  <a:lnTo>
                    <a:pt x="7857617" y="2666492"/>
                  </a:lnTo>
                  <a:lnTo>
                    <a:pt x="0" y="2666492"/>
                  </a:lnTo>
                  <a:lnTo>
                    <a:pt x="0" y="0"/>
                  </a:lnTo>
                  <a:close/>
                </a:path>
              </a:pathLst>
            </a:custGeom>
            <a:blipFill>
              <a:blip r:embed="rId3"/>
              <a:stretch>
                <a:fillRect l="-88935" t="-264896" r="-89066" b="-265418"/>
              </a:stretch>
            </a:blipFill>
          </p:spPr>
        </p:sp>
      </p:grpSp>
      <p:sp>
        <p:nvSpPr>
          <p:cNvPr name="TextBox 10" id="10"/>
          <p:cNvSpPr txBox="true"/>
          <p:nvPr/>
        </p:nvSpPr>
        <p:spPr>
          <a:xfrm rot="0">
            <a:off x="1028700" y="3012834"/>
            <a:ext cx="8596313" cy="1110286"/>
          </a:xfrm>
          <a:prstGeom prst="rect">
            <a:avLst/>
          </a:prstGeom>
        </p:spPr>
        <p:txBody>
          <a:bodyPr anchor="t" rtlCol="false" tIns="0" lIns="0" bIns="0" rIns="0">
            <a:spAutoFit/>
          </a:bodyPr>
          <a:lstStyle/>
          <a:p>
            <a:pPr algn="l">
              <a:lnSpc>
                <a:spcPts val="8400"/>
              </a:lnSpc>
            </a:pPr>
            <a:r>
              <a:rPr lang="en-US" b="true" sz="6000">
                <a:solidFill>
                  <a:srgbClr val="7D1916"/>
                </a:solidFill>
                <a:latin typeface="Helvetica World Bold"/>
                <a:ea typeface="Helvetica World Bold"/>
                <a:cs typeface="Helvetica World Bold"/>
                <a:sym typeface="Helvetica World Bold"/>
              </a:rPr>
              <a:t>S1_</a:t>
            </a:r>
            <a:r>
              <a:rPr lang="en-US" b="true" sz="6000">
                <a:solidFill>
                  <a:srgbClr val="7D1916"/>
                </a:solidFill>
                <a:latin typeface="Helvetica World Bold"/>
                <a:ea typeface="Helvetica World Bold"/>
                <a:cs typeface="Helvetica World Bold"/>
                <a:sym typeface="Helvetica World Bold"/>
              </a:rPr>
              <a:t>GROUP 2: CLIMATE</a:t>
            </a:r>
          </a:p>
        </p:txBody>
      </p:sp>
      <p:sp>
        <p:nvSpPr>
          <p:cNvPr name="TextBox 11" id="11"/>
          <p:cNvSpPr txBox="true"/>
          <p:nvPr/>
        </p:nvSpPr>
        <p:spPr>
          <a:xfrm rot="0">
            <a:off x="1028700" y="4292228"/>
            <a:ext cx="16809389" cy="959623"/>
          </a:xfrm>
          <a:prstGeom prst="rect">
            <a:avLst/>
          </a:prstGeom>
        </p:spPr>
        <p:txBody>
          <a:bodyPr anchor="t" rtlCol="false" tIns="0" lIns="0" bIns="0" rIns="0">
            <a:spAutoFit/>
          </a:bodyPr>
          <a:lstStyle/>
          <a:p>
            <a:pPr algn="l">
              <a:lnSpc>
                <a:spcPts val="7279"/>
              </a:lnSpc>
            </a:pPr>
            <a:r>
              <a:rPr lang="en-US" b="true" sz="5199">
                <a:solidFill>
                  <a:srgbClr val="7D1916"/>
                </a:solidFill>
                <a:latin typeface="Helvetica World Bold"/>
                <a:ea typeface="Helvetica World Bold"/>
                <a:cs typeface="Helvetica World Bold"/>
                <a:sym typeface="Helvetica World Bold"/>
              </a:rPr>
              <a:t>Probabilistic Forecasting of Extreme Weather Events</a:t>
            </a:r>
          </a:p>
        </p:txBody>
      </p:sp>
      <p:grpSp>
        <p:nvGrpSpPr>
          <p:cNvPr name="Group 12" id="12"/>
          <p:cNvGrpSpPr/>
          <p:nvPr/>
        </p:nvGrpSpPr>
        <p:grpSpPr>
          <a:xfrm rot="0">
            <a:off x="6153990" y="5251851"/>
            <a:ext cx="6942046" cy="4329138"/>
            <a:chOff x="0" y="0"/>
            <a:chExt cx="9256062" cy="5772184"/>
          </a:xfrm>
        </p:grpSpPr>
        <p:sp>
          <p:nvSpPr>
            <p:cNvPr name="TextBox 13" id="13"/>
            <p:cNvSpPr txBox="true"/>
            <p:nvPr/>
          </p:nvSpPr>
          <p:spPr>
            <a:xfrm rot="0">
              <a:off x="4959254" y="-76200"/>
              <a:ext cx="217983" cy="1077024"/>
            </a:xfrm>
            <a:prstGeom prst="rect">
              <a:avLst/>
            </a:prstGeom>
          </p:spPr>
          <p:txBody>
            <a:bodyPr anchor="t" rtlCol="false" tIns="0" lIns="0" bIns="0" rIns="0">
              <a:spAutoFit/>
            </a:bodyPr>
            <a:lstStyle/>
            <a:p>
              <a:pPr algn="l">
                <a:lnSpc>
                  <a:spcPts val="6579"/>
                </a:lnSpc>
              </a:pPr>
              <a:r>
                <a:rPr lang="en-US" b="true" sz="4699">
                  <a:solidFill>
                    <a:srgbClr val="7D1916"/>
                  </a:solidFill>
                  <a:latin typeface="Helvetica World Bold"/>
                  <a:ea typeface="Helvetica World Bold"/>
                  <a:cs typeface="Helvetica World Bold"/>
                  <a:sym typeface="Helvetica World Bold"/>
                </a:rPr>
                <a:t> </a:t>
              </a:r>
            </a:p>
          </p:txBody>
        </p:sp>
        <p:sp>
          <p:nvSpPr>
            <p:cNvPr name="TextBox 14" id="14"/>
            <p:cNvSpPr txBox="true"/>
            <p:nvPr/>
          </p:nvSpPr>
          <p:spPr>
            <a:xfrm rot="0">
              <a:off x="151440" y="1549434"/>
              <a:ext cx="4199694" cy="4222750"/>
            </a:xfrm>
            <a:prstGeom prst="rect">
              <a:avLst/>
            </a:prstGeom>
          </p:spPr>
          <p:txBody>
            <a:bodyPr anchor="t" rtlCol="false" tIns="0" lIns="0" bIns="0" rIns="0">
              <a:spAutoFit/>
            </a:bodyPr>
            <a:lstStyle/>
            <a:p>
              <a:pPr algn="l">
                <a:lnSpc>
                  <a:spcPts val="4200"/>
                </a:lnSpc>
              </a:pPr>
              <a:r>
                <a:rPr lang="en-US" b="true" sz="3000">
                  <a:solidFill>
                    <a:srgbClr val="000000"/>
                  </a:solidFill>
                  <a:latin typeface="Canva Sans Bold"/>
                  <a:ea typeface="Canva Sans Bold"/>
                  <a:cs typeface="Canva Sans Bold"/>
                  <a:sym typeface="Canva Sans Bold"/>
                </a:rPr>
                <a:t>Abhi Jain </a:t>
              </a:r>
            </a:p>
            <a:p>
              <a:pPr algn="l">
                <a:lnSpc>
                  <a:spcPts val="4200"/>
                </a:lnSpc>
              </a:pPr>
              <a:r>
                <a:rPr lang="en-US" b="true" sz="3000">
                  <a:solidFill>
                    <a:srgbClr val="000000"/>
                  </a:solidFill>
                  <a:latin typeface="Canva Sans Bold"/>
                  <a:ea typeface="Canva Sans Bold"/>
                  <a:cs typeface="Canva Sans Bold"/>
                  <a:sym typeface="Canva Sans Bold"/>
                </a:rPr>
                <a:t>Dhruti Kobawala</a:t>
              </a:r>
            </a:p>
            <a:p>
              <a:pPr algn="l">
                <a:lnSpc>
                  <a:spcPts val="4200"/>
                </a:lnSpc>
              </a:pPr>
              <a:r>
                <a:rPr lang="en-US" b="true" sz="3000">
                  <a:solidFill>
                    <a:srgbClr val="000000"/>
                  </a:solidFill>
                  <a:latin typeface="Canva Sans Bold"/>
                  <a:ea typeface="Canva Sans Bold"/>
                  <a:cs typeface="Canva Sans Bold"/>
                  <a:sym typeface="Canva Sans Bold"/>
                </a:rPr>
                <a:t>Prarthana Gajera</a:t>
              </a:r>
            </a:p>
            <a:p>
              <a:pPr algn="l">
                <a:lnSpc>
                  <a:spcPts val="4200"/>
                </a:lnSpc>
              </a:pPr>
              <a:r>
                <a:rPr lang="en-US" b="true" sz="3000">
                  <a:solidFill>
                    <a:srgbClr val="000000"/>
                  </a:solidFill>
                  <a:latin typeface="Canva Sans Bold"/>
                  <a:ea typeface="Canva Sans Bold"/>
                  <a:cs typeface="Canva Sans Bold"/>
                  <a:sym typeface="Canva Sans Bold"/>
                </a:rPr>
                <a:t>Shlok Shah</a:t>
              </a:r>
            </a:p>
            <a:p>
              <a:pPr algn="l">
                <a:lnSpc>
                  <a:spcPts val="4200"/>
                </a:lnSpc>
              </a:pPr>
              <a:r>
                <a:rPr lang="en-US" b="true" sz="3000">
                  <a:solidFill>
                    <a:srgbClr val="000000"/>
                  </a:solidFill>
                  <a:latin typeface="Canva Sans Bold"/>
                  <a:ea typeface="Canva Sans Bold"/>
                  <a:cs typeface="Canva Sans Bold"/>
                  <a:sym typeface="Canva Sans Bold"/>
                </a:rPr>
                <a:t>Pearl Patel</a:t>
              </a:r>
            </a:p>
            <a:p>
              <a:pPr algn="l">
                <a:lnSpc>
                  <a:spcPts val="4200"/>
                </a:lnSpc>
              </a:pPr>
            </a:p>
          </p:txBody>
        </p:sp>
        <p:sp>
          <p:nvSpPr>
            <p:cNvPr name="TextBox 15" id="15"/>
            <p:cNvSpPr txBox="true"/>
            <p:nvPr/>
          </p:nvSpPr>
          <p:spPr>
            <a:xfrm rot="0">
              <a:off x="5417070" y="1549434"/>
              <a:ext cx="3838992" cy="4222750"/>
            </a:xfrm>
            <a:prstGeom prst="rect">
              <a:avLst/>
            </a:prstGeom>
          </p:spPr>
          <p:txBody>
            <a:bodyPr anchor="t" rtlCol="false" tIns="0" lIns="0" bIns="0" rIns="0">
              <a:spAutoFit/>
            </a:bodyPr>
            <a:lstStyle/>
            <a:p>
              <a:pPr algn="l">
                <a:lnSpc>
                  <a:spcPts val="4200"/>
                </a:lnSpc>
              </a:pPr>
              <a:r>
                <a:rPr lang="en-US" sz="3000" b="true">
                  <a:solidFill>
                    <a:srgbClr val="000000"/>
                  </a:solidFill>
                  <a:latin typeface="Canva Sans Bold"/>
                  <a:ea typeface="Canva Sans Bold"/>
                  <a:cs typeface="Canva Sans Bold"/>
                  <a:sym typeface="Canva Sans Bold"/>
                </a:rPr>
                <a:t>AU2440173</a:t>
              </a:r>
            </a:p>
            <a:p>
              <a:pPr algn="l">
                <a:lnSpc>
                  <a:spcPts val="4200"/>
                </a:lnSpc>
              </a:pPr>
              <a:r>
                <a:rPr lang="en-US" b="true" sz="3000">
                  <a:solidFill>
                    <a:srgbClr val="000000"/>
                  </a:solidFill>
                  <a:latin typeface="Canva Sans Bold"/>
                  <a:ea typeface="Canva Sans Bold"/>
                  <a:cs typeface="Canva Sans Bold"/>
                  <a:sym typeface="Canva Sans Bold"/>
                </a:rPr>
                <a:t>AU2440005</a:t>
              </a:r>
            </a:p>
            <a:p>
              <a:pPr algn="l">
                <a:lnSpc>
                  <a:spcPts val="4200"/>
                </a:lnSpc>
              </a:pPr>
              <a:r>
                <a:rPr lang="en-US" b="true" sz="3000">
                  <a:solidFill>
                    <a:srgbClr val="000000"/>
                  </a:solidFill>
                  <a:latin typeface="Canva Sans Bold"/>
                  <a:ea typeface="Canva Sans Bold"/>
                  <a:cs typeface="Canva Sans Bold"/>
                  <a:sym typeface="Canva Sans Bold"/>
                </a:rPr>
                <a:t>AU2440202</a:t>
              </a:r>
            </a:p>
            <a:p>
              <a:pPr algn="l">
                <a:lnSpc>
                  <a:spcPts val="4200"/>
                </a:lnSpc>
              </a:pPr>
              <a:r>
                <a:rPr lang="en-US" b="true" sz="3000">
                  <a:solidFill>
                    <a:srgbClr val="000000"/>
                  </a:solidFill>
                  <a:latin typeface="Canva Sans Bold"/>
                  <a:ea typeface="Canva Sans Bold"/>
                  <a:cs typeface="Canva Sans Bold"/>
                  <a:sym typeface="Canva Sans Bold"/>
                </a:rPr>
                <a:t>AU2440178</a:t>
              </a:r>
            </a:p>
            <a:p>
              <a:pPr algn="l">
                <a:lnSpc>
                  <a:spcPts val="4200"/>
                </a:lnSpc>
              </a:pPr>
              <a:r>
                <a:rPr lang="en-US" b="true" sz="3000">
                  <a:solidFill>
                    <a:srgbClr val="000000"/>
                  </a:solidFill>
                  <a:latin typeface="Canva Sans Bold"/>
                  <a:ea typeface="Canva Sans Bold"/>
                  <a:cs typeface="Canva Sans Bold"/>
                  <a:sym typeface="Canva Sans Bold"/>
                </a:rPr>
                <a:t>AU2440085</a:t>
              </a:r>
            </a:p>
            <a:p>
              <a:pPr algn="l">
                <a:lnSpc>
                  <a:spcPts val="4200"/>
                </a:lnSpc>
              </a:pPr>
            </a:p>
          </p:txBody>
        </p:sp>
        <p:sp>
          <p:nvSpPr>
            <p:cNvPr name="TextBox 16" id="16"/>
            <p:cNvSpPr txBox="true"/>
            <p:nvPr/>
          </p:nvSpPr>
          <p:spPr>
            <a:xfrm rot="0">
              <a:off x="0" y="623191"/>
              <a:ext cx="8174346" cy="698114"/>
            </a:xfrm>
            <a:prstGeom prst="rect">
              <a:avLst/>
            </a:prstGeom>
          </p:spPr>
          <p:txBody>
            <a:bodyPr anchor="t" rtlCol="false" tIns="0" lIns="0" bIns="0" rIns="0">
              <a:spAutoFit/>
            </a:bodyPr>
            <a:lstStyle/>
            <a:p>
              <a:pPr algn="ctr">
                <a:lnSpc>
                  <a:spcPts val="4480"/>
                </a:lnSpc>
              </a:pPr>
              <a:r>
                <a:rPr lang="en-US" sz="3200">
                  <a:solidFill>
                    <a:srgbClr val="000000"/>
                  </a:solidFill>
                  <a:latin typeface="Canva Sans"/>
                  <a:ea typeface="Canva Sans"/>
                  <a:cs typeface="Canva Sans"/>
                  <a:sym typeface="Canva Sans"/>
                </a:rPr>
                <a:t>Group Members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5836679" y="467188"/>
            <a:ext cx="6614642" cy="1068671"/>
            <a:chOff x="0" y="0"/>
            <a:chExt cx="8819523" cy="1424895"/>
          </a:xfrm>
        </p:grpSpPr>
        <p:sp>
          <p:nvSpPr>
            <p:cNvPr name="Freeform 11" id="11"/>
            <p:cNvSpPr/>
            <p:nvPr/>
          </p:nvSpPr>
          <p:spPr>
            <a:xfrm flipH="false" flipV="false" rot="0">
              <a:off x="0" y="0"/>
              <a:ext cx="8819523" cy="1424896"/>
            </a:xfrm>
            <a:custGeom>
              <a:avLst/>
              <a:gdLst/>
              <a:ahLst/>
              <a:cxnLst/>
              <a:rect r="r" b="b" t="t" l="l"/>
              <a:pathLst>
                <a:path h="1424896" w="8819523">
                  <a:moveTo>
                    <a:pt x="0" y="0"/>
                  </a:moveTo>
                  <a:lnTo>
                    <a:pt x="8819523" y="0"/>
                  </a:lnTo>
                  <a:lnTo>
                    <a:pt x="8819523" y="1424896"/>
                  </a:lnTo>
                  <a:lnTo>
                    <a:pt x="0" y="1424896"/>
                  </a:lnTo>
                  <a:close/>
                </a:path>
              </a:pathLst>
            </a:custGeom>
            <a:blipFill>
              <a:blip r:embed="rId4">
                <a:alphaModFix amt="0"/>
              </a:blip>
              <a:stretch>
                <a:fillRect l="0" t="-194566" r="-138461" b="-280624"/>
              </a:stretch>
            </a:blipFill>
          </p:spPr>
        </p:sp>
        <p:sp>
          <p:nvSpPr>
            <p:cNvPr name="TextBox 12" id="12"/>
            <p:cNvSpPr txBox="true"/>
            <p:nvPr/>
          </p:nvSpPr>
          <p:spPr>
            <a:xfrm>
              <a:off x="0" y="47625"/>
              <a:ext cx="8819523"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Background &amp; Motivation</a:t>
              </a:r>
            </a:p>
          </p:txBody>
        </p:sp>
      </p:grpSp>
      <p:sp>
        <p:nvSpPr>
          <p:cNvPr name="TextBox 13" id="13"/>
          <p:cNvSpPr txBox="true"/>
          <p:nvPr/>
        </p:nvSpPr>
        <p:spPr>
          <a:xfrm rot="0">
            <a:off x="1688329" y="1705901"/>
            <a:ext cx="14547251" cy="5464040"/>
          </a:xfrm>
          <a:prstGeom prst="rect">
            <a:avLst/>
          </a:prstGeom>
        </p:spPr>
        <p:txBody>
          <a:bodyPr anchor="t" rtlCol="false" tIns="0" lIns="0" bIns="0" rIns="0">
            <a:spAutoFit/>
          </a:bodyPr>
          <a:lstStyle/>
          <a:p>
            <a:pPr algn="l">
              <a:lnSpc>
                <a:spcPts val="3103"/>
              </a:lnSpc>
            </a:pPr>
            <a:r>
              <a:rPr lang="en-US" sz="2900" b="true">
                <a:solidFill>
                  <a:srgbClr val="000000"/>
                </a:solidFill>
                <a:latin typeface="Canva Sans Bold"/>
                <a:ea typeface="Canva Sans Bold"/>
                <a:cs typeface="Canva Sans Bold"/>
                <a:sym typeface="Canva Sans Bold"/>
              </a:rPr>
              <a:t>Background</a:t>
            </a:r>
            <a:r>
              <a:rPr lang="en-US" sz="2900">
                <a:solidFill>
                  <a:srgbClr val="000000"/>
                </a:solidFill>
                <a:latin typeface="Canva Sans"/>
                <a:ea typeface="Canva Sans"/>
                <a:cs typeface="Canva Sans"/>
                <a:sym typeface="Canva Sans"/>
              </a:rPr>
              <a:t>:</a:t>
            </a:r>
          </a:p>
          <a:p>
            <a:pPr algn="l">
              <a:lnSpc>
                <a:spcPts val="2674"/>
              </a:lnSpc>
            </a:pPr>
            <a:r>
              <a:rPr lang="en-US" sz="2499">
                <a:solidFill>
                  <a:srgbClr val="000000"/>
                </a:solidFill>
                <a:latin typeface="Canva Sans"/>
                <a:ea typeface="Canva Sans"/>
                <a:cs typeface="Canva Sans"/>
                <a:sym typeface="Canva Sans"/>
              </a:rPr>
              <a:t>Traditional deterministic forecasts give only one possible outcome and do not capture uncertainty which is a major limitation during extreme rainfall or storms.</a:t>
            </a:r>
          </a:p>
          <a:p>
            <a:pPr algn="l">
              <a:lnSpc>
                <a:spcPts val="2461"/>
              </a:lnSpc>
            </a:pPr>
          </a:p>
          <a:p>
            <a:pPr algn="l">
              <a:lnSpc>
                <a:spcPts val="3103"/>
              </a:lnSpc>
            </a:pPr>
            <a:r>
              <a:rPr lang="en-US" sz="2900" b="true">
                <a:solidFill>
                  <a:srgbClr val="000000"/>
                </a:solidFill>
                <a:latin typeface="Canva Sans Bold"/>
                <a:ea typeface="Canva Sans Bold"/>
                <a:cs typeface="Canva Sans Bold"/>
                <a:sym typeface="Canva Sans Bold"/>
              </a:rPr>
              <a:t>Motivation</a:t>
            </a:r>
            <a:r>
              <a:rPr lang="en-US" sz="2900">
                <a:solidFill>
                  <a:srgbClr val="000000"/>
                </a:solidFill>
                <a:latin typeface="Canva Sans"/>
                <a:ea typeface="Canva Sans"/>
                <a:cs typeface="Canva Sans"/>
                <a:sym typeface="Canva Sans"/>
              </a:rPr>
              <a:t>:</a:t>
            </a:r>
          </a:p>
          <a:p>
            <a:pPr algn="l">
              <a:lnSpc>
                <a:spcPts val="2674"/>
              </a:lnSpc>
            </a:pPr>
            <a:r>
              <a:rPr lang="en-US" sz="2499">
                <a:solidFill>
                  <a:srgbClr val="000000"/>
                </a:solidFill>
                <a:latin typeface="Canva Sans"/>
                <a:ea typeface="Canva Sans"/>
                <a:cs typeface="Canva Sans"/>
                <a:sym typeface="Canva Sans"/>
              </a:rPr>
              <a:t>Extreme rainfall directly impacts defense logistics, border operations, and infrastructure planning. We selected Arunachal Pradesh because its complex terrain and frequent extreme rainfall events make it a high-risk region where probabilistic forecasting is most needed.</a:t>
            </a:r>
          </a:p>
          <a:p>
            <a:pPr algn="l">
              <a:lnSpc>
                <a:spcPts val="2461"/>
              </a:lnSpc>
            </a:pPr>
          </a:p>
          <a:p>
            <a:pPr algn="l">
              <a:lnSpc>
                <a:spcPts val="3103"/>
              </a:lnSpc>
            </a:pPr>
            <a:r>
              <a:rPr lang="en-US" sz="2900" b="true">
                <a:solidFill>
                  <a:srgbClr val="000000"/>
                </a:solidFill>
                <a:latin typeface="Canva Sans Bold"/>
                <a:ea typeface="Canva Sans Bold"/>
                <a:cs typeface="Canva Sans Bold"/>
                <a:sym typeface="Canva Sans Bold"/>
              </a:rPr>
              <a:t>Why It Happens</a:t>
            </a:r>
            <a:r>
              <a:rPr lang="en-US" sz="2900">
                <a:solidFill>
                  <a:srgbClr val="000000"/>
                </a:solidFill>
                <a:latin typeface="Canva Sans"/>
                <a:ea typeface="Canva Sans"/>
                <a:cs typeface="Canva Sans"/>
                <a:sym typeface="Canva Sans"/>
              </a:rPr>
              <a:t>:</a:t>
            </a:r>
          </a:p>
          <a:p>
            <a:pPr algn="l">
              <a:lnSpc>
                <a:spcPts val="2674"/>
              </a:lnSpc>
            </a:pPr>
            <a:r>
              <a:rPr lang="en-US" sz="2499">
                <a:solidFill>
                  <a:srgbClr val="000000"/>
                </a:solidFill>
                <a:latin typeface="Canva Sans"/>
                <a:ea typeface="Canva Sans"/>
                <a:cs typeface="Canva Sans"/>
                <a:sym typeface="Canva Sans"/>
              </a:rPr>
              <a:t> Extreme weather is unpredictable due to:</a:t>
            </a:r>
          </a:p>
          <a:p>
            <a:pPr algn="l">
              <a:lnSpc>
                <a:spcPts val="2674"/>
              </a:lnSpc>
            </a:pPr>
            <a:r>
              <a:rPr lang="en-US" sz="2499">
                <a:solidFill>
                  <a:srgbClr val="000000"/>
                </a:solidFill>
                <a:latin typeface="Canva Sans"/>
                <a:ea typeface="Canva Sans"/>
                <a:cs typeface="Canva Sans"/>
                <a:sym typeface="Canva Sans"/>
              </a:rPr>
              <a:t> • Chaotic atmospheric conditions</a:t>
            </a:r>
          </a:p>
          <a:p>
            <a:pPr algn="l">
              <a:lnSpc>
                <a:spcPts val="2674"/>
              </a:lnSpc>
            </a:pPr>
            <a:r>
              <a:rPr lang="en-US" sz="2499">
                <a:solidFill>
                  <a:srgbClr val="000000"/>
                </a:solidFill>
                <a:latin typeface="Canva Sans"/>
                <a:ea typeface="Canva Sans"/>
                <a:cs typeface="Canva Sans"/>
                <a:sym typeface="Canva Sans"/>
              </a:rPr>
              <a:t> • Model simplifications</a:t>
            </a:r>
          </a:p>
          <a:p>
            <a:pPr algn="l">
              <a:lnSpc>
                <a:spcPts val="2674"/>
              </a:lnSpc>
            </a:pPr>
            <a:r>
              <a:rPr lang="en-US" sz="2499">
                <a:solidFill>
                  <a:srgbClr val="000000"/>
                </a:solidFill>
                <a:latin typeface="Canva Sans"/>
                <a:ea typeface="Canva Sans"/>
                <a:cs typeface="Canva Sans"/>
                <a:sym typeface="Canva Sans"/>
              </a:rPr>
              <a:t> • Measurement noise and limited data</a:t>
            </a:r>
          </a:p>
          <a:p>
            <a:pPr algn="l">
              <a:lnSpc>
                <a:spcPts val="2461"/>
              </a:lnSpc>
            </a:pPr>
          </a:p>
          <a:p>
            <a:pPr algn="l">
              <a:lnSpc>
                <a:spcPts val="2916"/>
              </a:lnSpc>
            </a:pPr>
          </a:p>
        </p:txBody>
      </p:sp>
      <p:sp>
        <p:nvSpPr>
          <p:cNvPr name="Freeform 14" id="14"/>
          <p:cNvSpPr/>
          <p:nvPr/>
        </p:nvSpPr>
        <p:spPr>
          <a:xfrm flipH="false" flipV="false" rot="0">
            <a:off x="10616180" y="5277352"/>
            <a:ext cx="6805925" cy="3517222"/>
          </a:xfrm>
          <a:custGeom>
            <a:avLst/>
            <a:gdLst/>
            <a:ahLst/>
            <a:cxnLst/>
            <a:rect r="r" b="b" t="t" l="l"/>
            <a:pathLst>
              <a:path h="3517222" w="6805925">
                <a:moveTo>
                  <a:pt x="0" y="0"/>
                </a:moveTo>
                <a:lnTo>
                  <a:pt x="6805925" y="0"/>
                </a:lnTo>
                <a:lnTo>
                  <a:pt x="6805925" y="3517223"/>
                </a:lnTo>
                <a:lnTo>
                  <a:pt x="0" y="3517223"/>
                </a:lnTo>
                <a:lnTo>
                  <a:pt x="0" y="0"/>
                </a:lnTo>
                <a:close/>
              </a:path>
            </a:pathLst>
          </a:custGeom>
          <a:blipFill>
            <a:blip r:embed="rId5"/>
            <a:stretch>
              <a:fillRect l="0" t="0" r="0" b="0"/>
            </a:stretch>
          </a:blipFill>
        </p:spPr>
      </p:sp>
      <p:sp>
        <p:nvSpPr>
          <p:cNvPr name="TextBox 15" id="15"/>
          <p:cNvSpPr txBox="true"/>
          <p:nvPr/>
        </p:nvSpPr>
        <p:spPr>
          <a:xfrm rot="0">
            <a:off x="1688329" y="6797858"/>
            <a:ext cx="8805813" cy="2460442"/>
          </a:xfrm>
          <a:prstGeom prst="rect">
            <a:avLst/>
          </a:prstGeom>
        </p:spPr>
        <p:txBody>
          <a:bodyPr anchor="t" rtlCol="false" tIns="0" lIns="0" bIns="0" rIns="0">
            <a:spAutoFit/>
          </a:bodyPr>
          <a:lstStyle/>
          <a:p>
            <a:pPr algn="l">
              <a:lnSpc>
                <a:spcPts val="3132"/>
              </a:lnSpc>
              <a:spcBef>
                <a:spcPct val="0"/>
              </a:spcBef>
            </a:pPr>
            <a:r>
              <a:rPr lang="en-US" b="true" sz="2900">
                <a:solidFill>
                  <a:srgbClr val="000000"/>
                </a:solidFill>
                <a:latin typeface="Canva Sans Bold"/>
                <a:ea typeface="Canva Sans Bold"/>
                <a:cs typeface="Canva Sans Bold"/>
                <a:sym typeface="Canva Sans Bold"/>
              </a:rPr>
              <a:t>Our Focus:</a:t>
            </a:r>
          </a:p>
          <a:p>
            <a:pPr algn="l">
              <a:lnSpc>
                <a:spcPts val="2699"/>
              </a:lnSpc>
              <a:spcBef>
                <a:spcPct val="0"/>
              </a:spcBef>
            </a:pPr>
            <a:r>
              <a:rPr lang="en-US" sz="2499">
                <a:solidFill>
                  <a:srgbClr val="000000"/>
                </a:solidFill>
                <a:latin typeface="Canva Sans"/>
                <a:ea typeface="Canva Sans"/>
                <a:cs typeface="Canva Sans"/>
                <a:sym typeface="Canva Sans"/>
              </a:rPr>
              <a:t>Apply probabilistic forecasting to the Arunachal Pradesh rainfall dataset, a region known for extreme events</a:t>
            </a:r>
          </a:p>
          <a:p>
            <a:pPr algn="l">
              <a:lnSpc>
                <a:spcPts val="2484"/>
              </a:lnSpc>
              <a:spcBef>
                <a:spcPct val="0"/>
              </a:spcBef>
            </a:pPr>
          </a:p>
          <a:p>
            <a:pPr algn="l">
              <a:lnSpc>
                <a:spcPts val="3132"/>
              </a:lnSpc>
              <a:spcBef>
                <a:spcPct val="0"/>
              </a:spcBef>
            </a:pPr>
            <a:r>
              <a:rPr lang="en-US" b="true" sz="2900">
                <a:solidFill>
                  <a:srgbClr val="000000"/>
                </a:solidFill>
                <a:latin typeface="Canva Sans Bold"/>
                <a:ea typeface="Canva Sans Bold"/>
                <a:cs typeface="Canva Sans Bold"/>
                <a:sym typeface="Canva Sans Bold"/>
              </a:rPr>
              <a:t>Goal:</a:t>
            </a:r>
          </a:p>
          <a:p>
            <a:pPr algn="l">
              <a:lnSpc>
                <a:spcPts val="2700"/>
              </a:lnSpc>
              <a:spcBef>
                <a:spcPct val="0"/>
              </a:spcBef>
            </a:pPr>
            <a:r>
              <a:rPr lang="en-US" sz="2500">
                <a:solidFill>
                  <a:srgbClr val="000000"/>
                </a:solidFill>
                <a:latin typeface="Canva Sans"/>
                <a:ea typeface="Canva Sans"/>
                <a:cs typeface="Canva Sans"/>
                <a:sym typeface="Canva Sans"/>
              </a:rPr>
              <a:t>Move from “what will happen” to “how likely is it to happen?”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281330" y="467188"/>
            <a:ext cx="5725339" cy="1068671"/>
            <a:chOff x="0" y="0"/>
            <a:chExt cx="7633786" cy="1424895"/>
          </a:xfrm>
        </p:grpSpPr>
        <p:sp>
          <p:nvSpPr>
            <p:cNvPr name="Freeform 11" id="11"/>
            <p:cNvSpPr/>
            <p:nvPr/>
          </p:nvSpPr>
          <p:spPr>
            <a:xfrm flipH="false" flipV="false" rot="0">
              <a:off x="0" y="0"/>
              <a:ext cx="7633786" cy="1424896"/>
            </a:xfrm>
            <a:custGeom>
              <a:avLst/>
              <a:gdLst/>
              <a:ahLst/>
              <a:cxnLst/>
              <a:rect r="r" b="b" t="t" l="l"/>
              <a:pathLst>
                <a:path h="1424896" w="7633786">
                  <a:moveTo>
                    <a:pt x="0" y="0"/>
                  </a:moveTo>
                  <a:lnTo>
                    <a:pt x="7633786" y="0"/>
                  </a:lnTo>
                  <a:lnTo>
                    <a:pt x="7633786" y="1424896"/>
                  </a:lnTo>
                  <a:lnTo>
                    <a:pt x="0" y="1424896"/>
                  </a:lnTo>
                  <a:close/>
                </a:path>
              </a:pathLst>
            </a:custGeom>
            <a:blipFill>
              <a:blip r:embed="rId4">
                <a:alphaModFix amt="0"/>
              </a:blip>
              <a:stretch>
                <a:fillRect l="0" t="-194566" r="-175501" b="-280624"/>
              </a:stretch>
            </a:blipFill>
          </p:spPr>
        </p:sp>
        <p:sp>
          <p:nvSpPr>
            <p:cNvPr name="TextBox 12" id="12"/>
            <p:cNvSpPr txBox="true"/>
            <p:nvPr/>
          </p:nvSpPr>
          <p:spPr>
            <a:xfrm>
              <a:off x="0" y="47625"/>
              <a:ext cx="7633786"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Base Paper Overview</a:t>
              </a:r>
            </a:p>
          </p:txBody>
        </p:sp>
      </p:grpSp>
      <p:sp>
        <p:nvSpPr>
          <p:cNvPr name="TextBox 13" id="13"/>
          <p:cNvSpPr txBox="true"/>
          <p:nvPr/>
        </p:nvSpPr>
        <p:spPr>
          <a:xfrm rot="0">
            <a:off x="1562581" y="1535859"/>
            <a:ext cx="11250035" cy="7753662"/>
          </a:xfrm>
          <a:prstGeom prst="rect">
            <a:avLst/>
          </a:prstGeom>
        </p:spPr>
        <p:txBody>
          <a:bodyPr anchor="t" rtlCol="false" tIns="0" lIns="0" bIns="0" rIns="0">
            <a:spAutoFit/>
          </a:bodyPr>
          <a:lstStyle/>
          <a:p>
            <a:pPr algn="l">
              <a:lnSpc>
                <a:spcPts val="3480"/>
              </a:lnSpc>
            </a:pPr>
            <a:r>
              <a:rPr lang="en-US" sz="2900" b="true">
                <a:solidFill>
                  <a:srgbClr val="000000"/>
                </a:solidFill>
                <a:latin typeface="Canva Sans Bold"/>
                <a:ea typeface="Canva Sans Bold"/>
                <a:cs typeface="Canva Sans Bold"/>
                <a:sym typeface="Canva Sans Bold"/>
              </a:rPr>
              <a:t>Purpose of the Paper:</a:t>
            </a:r>
          </a:p>
          <a:p>
            <a:pPr algn="l">
              <a:lnSpc>
                <a:spcPts val="2999"/>
              </a:lnSpc>
            </a:pPr>
            <a:r>
              <a:rPr lang="en-US" sz="2499">
                <a:solidFill>
                  <a:srgbClr val="000000"/>
                </a:solidFill>
                <a:latin typeface="Canva Sans"/>
                <a:ea typeface="Canva Sans"/>
                <a:cs typeface="Canva Sans"/>
                <a:sym typeface="Canva Sans"/>
              </a:rPr>
              <a:t>To Study how to improve forecasting of high-impact weather using ensemble-based probabilistic methods.</a:t>
            </a:r>
          </a:p>
          <a:p>
            <a:pPr algn="l">
              <a:lnSpc>
                <a:spcPts val="2999"/>
              </a:lnSpc>
            </a:pPr>
          </a:p>
          <a:p>
            <a:pPr algn="l">
              <a:lnSpc>
                <a:spcPts val="3480"/>
              </a:lnSpc>
            </a:pPr>
            <a:r>
              <a:rPr lang="en-US" sz="2900" b="true">
                <a:solidFill>
                  <a:srgbClr val="000000"/>
                </a:solidFill>
                <a:latin typeface="Canva Sans Bold"/>
                <a:ea typeface="Canva Sans Bold"/>
                <a:cs typeface="Canva Sans Bold"/>
                <a:sym typeface="Canva Sans Bold"/>
              </a:rPr>
              <a:t>Approach Used:</a:t>
            </a:r>
          </a:p>
          <a:p>
            <a:pPr algn="l">
              <a:lnSpc>
                <a:spcPts val="2999"/>
              </a:lnSpc>
            </a:pPr>
            <a:r>
              <a:rPr lang="en-US" sz="2499">
                <a:solidFill>
                  <a:srgbClr val="000000"/>
                </a:solidFill>
                <a:latin typeface="Canva Sans"/>
                <a:ea typeface="Canva Sans"/>
                <a:cs typeface="Canva Sans"/>
                <a:sym typeface="Canva Sans"/>
              </a:rPr>
              <a:t> • Based on the NOGAPS global atmospheric model</a:t>
            </a:r>
          </a:p>
          <a:p>
            <a:pPr algn="l">
              <a:lnSpc>
                <a:spcPts val="2999"/>
              </a:lnSpc>
            </a:pPr>
            <a:r>
              <a:rPr lang="en-US" sz="2499">
                <a:solidFill>
                  <a:srgbClr val="000000"/>
                </a:solidFill>
                <a:latin typeface="Canva Sans"/>
                <a:ea typeface="Canva Sans"/>
                <a:cs typeface="Canva Sans"/>
                <a:sym typeface="Canva Sans"/>
              </a:rPr>
              <a:t> • Added stochastic perturbations to represent model uncertainty</a:t>
            </a:r>
          </a:p>
          <a:p>
            <a:pPr algn="l">
              <a:lnSpc>
                <a:spcPts val="2999"/>
              </a:lnSpc>
            </a:pPr>
            <a:r>
              <a:rPr lang="en-US" sz="2499">
                <a:solidFill>
                  <a:srgbClr val="000000"/>
                </a:solidFill>
                <a:latin typeface="Canva Sans"/>
                <a:ea typeface="Canva Sans"/>
                <a:cs typeface="Canva Sans"/>
                <a:sym typeface="Canva Sans"/>
              </a:rPr>
              <a:t> • Compared ensemble methods: BV, ET, and AES</a:t>
            </a:r>
          </a:p>
          <a:p>
            <a:pPr algn="l">
              <a:lnSpc>
                <a:spcPts val="2999"/>
              </a:lnSpc>
            </a:pPr>
          </a:p>
          <a:p>
            <a:pPr algn="l">
              <a:lnSpc>
                <a:spcPts val="3480"/>
              </a:lnSpc>
            </a:pPr>
            <a:r>
              <a:rPr lang="en-US" sz="2900" b="true">
                <a:solidFill>
                  <a:srgbClr val="000000"/>
                </a:solidFill>
                <a:latin typeface="Canva Sans Bold"/>
                <a:ea typeface="Canva Sans Bold"/>
                <a:cs typeface="Canva Sans Bold"/>
                <a:sym typeface="Canva Sans Bold"/>
              </a:rPr>
              <a:t>Key Findings:</a:t>
            </a:r>
          </a:p>
          <a:p>
            <a:pPr algn="l">
              <a:lnSpc>
                <a:spcPts val="2999"/>
              </a:lnSpc>
            </a:pPr>
            <a:r>
              <a:rPr lang="en-US" sz="2499">
                <a:solidFill>
                  <a:srgbClr val="000000"/>
                </a:solidFill>
                <a:latin typeface="Canva Sans"/>
                <a:ea typeface="Canva Sans"/>
                <a:cs typeface="Canva Sans"/>
                <a:sym typeface="Canva Sans"/>
              </a:rPr>
              <a:t> • Stochastic perturbations improved ensemble spread</a:t>
            </a:r>
          </a:p>
          <a:p>
            <a:pPr algn="l">
              <a:lnSpc>
                <a:spcPts val="2999"/>
              </a:lnSpc>
            </a:pPr>
            <a:r>
              <a:rPr lang="en-US" sz="2499">
                <a:solidFill>
                  <a:srgbClr val="000000"/>
                </a:solidFill>
                <a:latin typeface="Canva Sans"/>
                <a:ea typeface="Canva Sans"/>
                <a:cs typeface="Canva Sans"/>
                <a:sym typeface="Canva Sans"/>
              </a:rPr>
              <a:t> • ET and AES performed better than the operational BV method</a:t>
            </a:r>
          </a:p>
          <a:p>
            <a:pPr algn="l">
              <a:lnSpc>
                <a:spcPts val="2999"/>
              </a:lnSpc>
            </a:pPr>
            <a:r>
              <a:rPr lang="en-US" sz="2499">
                <a:solidFill>
                  <a:srgbClr val="000000"/>
                </a:solidFill>
                <a:latin typeface="Canva Sans"/>
                <a:ea typeface="Canva Sans"/>
                <a:cs typeface="Canva Sans"/>
                <a:sym typeface="Canva Sans"/>
              </a:rPr>
              <a:t> • A 96-hour ensemble-mean (with bias correction) matched a 48-hour deterministic forecast</a:t>
            </a:r>
          </a:p>
          <a:p>
            <a:pPr algn="l">
              <a:lnSpc>
                <a:spcPts val="2999"/>
              </a:lnSpc>
            </a:pPr>
          </a:p>
          <a:p>
            <a:pPr algn="l">
              <a:lnSpc>
                <a:spcPts val="3480"/>
              </a:lnSpc>
            </a:pPr>
            <a:r>
              <a:rPr lang="en-US" sz="2900" b="true">
                <a:solidFill>
                  <a:srgbClr val="000000"/>
                </a:solidFill>
                <a:latin typeface="Canva Sans Bold"/>
                <a:ea typeface="Canva Sans Bold"/>
                <a:cs typeface="Canva Sans Bold"/>
                <a:sym typeface="Canva Sans Bold"/>
              </a:rPr>
              <a:t>Why It Matters for Us:</a:t>
            </a:r>
          </a:p>
          <a:p>
            <a:pPr algn="l">
              <a:lnSpc>
                <a:spcPts val="2999"/>
              </a:lnSpc>
            </a:pPr>
            <a:r>
              <a:rPr lang="en-US" sz="2499">
                <a:solidFill>
                  <a:srgbClr val="000000"/>
                </a:solidFill>
                <a:latin typeface="Canva Sans"/>
                <a:ea typeface="Canva Sans"/>
                <a:cs typeface="Canva Sans"/>
                <a:sym typeface="Canva Sans"/>
              </a:rPr>
              <a:t>The paper shows that ensemble and Bayesian methods give more reliable predictions, directly supporting our approach for extreme rainfall uncertainty in Arunachal Pradesh.</a:t>
            </a:r>
          </a:p>
          <a:p>
            <a:pPr algn="l">
              <a:lnSpc>
                <a:spcPts val="3411"/>
              </a:lnSpc>
            </a:pPr>
          </a:p>
        </p:txBody>
      </p:sp>
      <p:sp>
        <p:nvSpPr>
          <p:cNvPr name="Freeform 14" id="14"/>
          <p:cNvSpPr/>
          <p:nvPr/>
        </p:nvSpPr>
        <p:spPr>
          <a:xfrm flipH="false" flipV="false" rot="0">
            <a:off x="12280509" y="2070261"/>
            <a:ext cx="6007491" cy="3507140"/>
          </a:xfrm>
          <a:custGeom>
            <a:avLst/>
            <a:gdLst/>
            <a:ahLst/>
            <a:cxnLst/>
            <a:rect r="r" b="b" t="t" l="l"/>
            <a:pathLst>
              <a:path h="3507140" w="6007491">
                <a:moveTo>
                  <a:pt x="0" y="0"/>
                </a:moveTo>
                <a:lnTo>
                  <a:pt x="6007491" y="0"/>
                </a:lnTo>
                <a:lnTo>
                  <a:pt x="6007491" y="3507139"/>
                </a:lnTo>
                <a:lnTo>
                  <a:pt x="0" y="3507139"/>
                </a:lnTo>
                <a:lnTo>
                  <a:pt x="0" y="0"/>
                </a:lnTo>
                <a:close/>
              </a:path>
            </a:pathLst>
          </a:custGeom>
          <a:blipFill>
            <a:blip r:embed="rId5"/>
            <a:stretch>
              <a:fillRect l="-2491" t="0" r="-2491" b="0"/>
            </a:stretch>
          </a:blipFill>
        </p:spPr>
      </p:sp>
      <p:sp>
        <p:nvSpPr>
          <p:cNvPr name="Freeform 15" id="15"/>
          <p:cNvSpPr/>
          <p:nvPr/>
        </p:nvSpPr>
        <p:spPr>
          <a:xfrm flipH="false" flipV="false" rot="0">
            <a:off x="12812616" y="5995527"/>
            <a:ext cx="5236836" cy="3061146"/>
          </a:xfrm>
          <a:custGeom>
            <a:avLst/>
            <a:gdLst/>
            <a:ahLst/>
            <a:cxnLst/>
            <a:rect r="r" b="b" t="t" l="l"/>
            <a:pathLst>
              <a:path h="3061146" w="5236836">
                <a:moveTo>
                  <a:pt x="0" y="0"/>
                </a:moveTo>
                <a:lnTo>
                  <a:pt x="5236837" y="0"/>
                </a:lnTo>
                <a:lnTo>
                  <a:pt x="5236837" y="3061146"/>
                </a:lnTo>
                <a:lnTo>
                  <a:pt x="0" y="3061146"/>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478265" y="467188"/>
            <a:ext cx="5952500" cy="1068671"/>
            <a:chOff x="0" y="0"/>
            <a:chExt cx="7936666" cy="1424895"/>
          </a:xfrm>
        </p:grpSpPr>
        <p:sp>
          <p:nvSpPr>
            <p:cNvPr name="Freeform 11" id="11"/>
            <p:cNvSpPr/>
            <p:nvPr/>
          </p:nvSpPr>
          <p:spPr>
            <a:xfrm flipH="false" flipV="false" rot="0">
              <a:off x="0" y="0"/>
              <a:ext cx="7936666" cy="1424896"/>
            </a:xfrm>
            <a:custGeom>
              <a:avLst/>
              <a:gdLst/>
              <a:ahLst/>
              <a:cxnLst/>
              <a:rect r="r" b="b" t="t" l="l"/>
              <a:pathLst>
                <a:path h="1424896" w="7936666">
                  <a:moveTo>
                    <a:pt x="0" y="0"/>
                  </a:moveTo>
                  <a:lnTo>
                    <a:pt x="7936666" y="0"/>
                  </a:lnTo>
                  <a:lnTo>
                    <a:pt x="7936666" y="1424896"/>
                  </a:lnTo>
                  <a:lnTo>
                    <a:pt x="0" y="1424896"/>
                  </a:lnTo>
                  <a:close/>
                </a:path>
              </a:pathLst>
            </a:custGeom>
            <a:blipFill>
              <a:blip r:embed="rId4">
                <a:alphaModFix amt="0"/>
              </a:blip>
              <a:stretch>
                <a:fillRect l="0" t="-194566" r="-164987" b="-280624"/>
              </a:stretch>
            </a:blipFill>
          </p:spPr>
        </p:sp>
        <p:sp>
          <p:nvSpPr>
            <p:cNvPr name="TextBox 12" id="12"/>
            <p:cNvSpPr txBox="true"/>
            <p:nvPr/>
          </p:nvSpPr>
          <p:spPr>
            <a:xfrm>
              <a:off x="0" y="47625"/>
              <a:ext cx="7936666"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Problem Formulation</a:t>
              </a:r>
            </a:p>
          </p:txBody>
        </p:sp>
      </p:grpSp>
      <p:sp>
        <p:nvSpPr>
          <p:cNvPr name="Freeform 13" id="13"/>
          <p:cNvSpPr/>
          <p:nvPr/>
        </p:nvSpPr>
        <p:spPr>
          <a:xfrm flipH="false" flipV="false" rot="0">
            <a:off x="11402009" y="5049481"/>
            <a:ext cx="5761320" cy="3838479"/>
          </a:xfrm>
          <a:custGeom>
            <a:avLst/>
            <a:gdLst/>
            <a:ahLst/>
            <a:cxnLst/>
            <a:rect r="r" b="b" t="t" l="l"/>
            <a:pathLst>
              <a:path h="3838479" w="5761320">
                <a:moveTo>
                  <a:pt x="0" y="0"/>
                </a:moveTo>
                <a:lnTo>
                  <a:pt x="5761320" y="0"/>
                </a:lnTo>
                <a:lnTo>
                  <a:pt x="5761320" y="3838479"/>
                </a:lnTo>
                <a:lnTo>
                  <a:pt x="0" y="3838479"/>
                </a:lnTo>
                <a:lnTo>
                  <a:pt x="0" y="0"/>
                </a:lnTo>
                <a:close/>
              </a:path>
            </a:pathLst>
          </a:custGeom>
          <a:blipFill>
            <a:blip r:embed="rId5"/>
            <a:stretch>
              <a:fillRect l="0" t="0" r="0" b="0"/>
            </a:stretch>
          </a:blipFill>
        </p:spPr>
      </p:sp>
      <p:sp>
        <p:nvSpPr>
          <p:cNvPr name="TextBox 14" id="14"/>
          <p:cNvSpPr txBox="true"/>
          <p:nvPr/>
        </p:nvSpPr>
        <p:spPr>
          <a:xfrm rot="0">
            <a:off x="1949039" y="1801952"/>
            <a:ext cx="14693021" cy="3175494"/>
          </a:xfrm>
          <a:prstGeom prst="rect">
            <a:avLst/>
          </a:prstGeom>
        </p:spPr>
        <p:txBody>
          <a:bodyPr anchor="t" rtlCol="false" tIns="0" lIns="0" bIns="0" rIns="0">
            <a:spAutoFit/>
          </a:bodyPr>
          <a:lstStyle/>
          <a:p>
            <a:pPr algn="l">
              <a:lnSpc>
                <a:spcPts val="4479"/>
              </a:lnSpc>
            </a:pPr>
            <a:r>
              <a:rPr lang="en-US" sz="3199" b="true">
                <a:solidFill>
                  <a:srgbClr val="000000"/>
                </a:solidFill>
                <a:latin typeface="Canva Sans Bold"/>
                <a:ea typeface="Canva Sans Bold"/>
                <a:cs typeface="Canva Sans Bold"/>
                <a:sym typeface="Canva Sans Bold"/>
              </a:rPr>
              <a:t>Problem Statement:</a:t>
            </a:r>
          </a:p>
          <a:p>
            <a:pPr algn="l">
              <a:lnSpc>
                <a:spcPts val="3499"/>
              </a:lnSpc>
            </a:pPr>
            <a:r>
              <a:rPr lang="en-US" sz="2499">
                <a:solidFill>
                  <a:srgbClr val="000000"/>
                </a:solidFill>
                <a:latin typeface="Canva Sans"/>
                <a:ea typeface="Canva Sans"/>
                <a:cs typeface="Canva Sans"/>
                <a:sym typeface="Canva Sans"/>
              </a:rPr>
              <a:t>Deterministic weather forecasts do not capture uncertainty, and do not do so well for extreme events (e.g. heavy rainfall and storms). This limits the effective planning of defense operations and resilience of the infrastructure. This project applies some of the probabilistic techniques to quantify the uncertainty of the extreme weather events from ensemble forecasting and Bayesian inference. The goal is to estimate event likelihoods and provide risk-informed decision supporting.</a:t>
            </a:r>
          </a:p>
        </p:txBody>
      </p:sp>
      <p:sp>
        <p:nvSpPr>
          <p:cNvPr name="TextBox 15" id="15"/>
          <p:cNvSpPr txBox="true"/>
          <p:nvPr/>
        </p:nvSpPr>
        <p:spPr>
          <a:xfrm rot="0">
            <a:off x="1949039" y="5299966"/>
            <a:ext cx="9201421" cy="1817313"/>
          </a:xfrm>
          <a:prstGeom prst="rect">
            <a:avLst/>
          </a:prstGeom>
        </p:spPr>
        <p:txBody>
          <a:bodyPr anchor="t" rtlCol="false" tIns="0" lIns="0" bIns="0" rIns="0">
            <a:spAutoFit/>
          </a:bodyPr>
          <a:lstStyle/>
          <a:p>
            <a:pPr algn="l">
              <a:lnSpc>
                <a:spcPts val="4059"/>
              </a:lnSpc>
            </a:pPr>
            <a:r>
              <a:rPr lang="en-US" sz="2899" b="true">
                <a:solidFill>
                  <a:srgbClr val="000000"/>
                </a:solidFill>
                <a:latin typeface="Canva Sans Bold"/>
                <a:ea typeface="Canva Sans Bold"/>
                <a:cs typeface="Canva Sans Bold"/>
                <a:sym typeface="Canva Sans Bold"/>
              </a:rPr>
              <a:t>Core Focus: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Qu</a:t>
            </a:r>
            <a:r>
              <a:rPr lang="en-US" sz="2500">
                <a:solidFill>
                  <a:srgbClr val="000000"/>
                </a:solidFill>
                <a:latin typeface="Canva Sans"/>
                <a:ea typeface="Canva Sans"/>
                <a:cs typeface="Canva Sans"/>
                <a:sym typeface="Canva Sans"/>
              </a:rPr>
              <a:t>antifying uncertainty in extreme weather predictions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Estimating the probability of rare events for better decision support</a:t>
            </a:r>
          </a:p>
        </p:txBody>
      </p:sp>
      <p:sp>
        <p:nvSpPr>
          <p:cNvPr name="TextBox 16" id="16"/>
          <p:cNvSpPr txBox="true"/>
          <p:nvPr/>
        </p:nvSpPr>
        <p:spPr>
          <a:xfrm rot="0">
            <a:off x="1949039" y="7241104"/>
            <a:ext cx="9201421" cy="1817313"/>
          </a:xfrm>
          <a:prstGeom prst="rect">
            <a:avLst/>
          </a:prstGeom>
        </p:spPr>
        <p:txBody>
          <a:bodyPr anchor="t" rtlCol="false" tIns="0" lIns="0" bIns="0" rIns="0">
            <a:spAutoFit/>
          </a:bodyPr>
          <a:lstStyle/>
          <a:p>
            <a:pPr algn="l">
              <a:lnSpc>
                <a:spcPts val="4059"/>
              </a:lnSpc>
            </a:pPr>
            <a:r>
              <a:rPr lang="en-US" sz="2899" b="true">
                <a:solidFill>
                  <a:srgbClr val="000000"/>
                </a:solidFill>
                <a:latin typeface="Canva Sans Bold"/>
                <a:ea typeface="Canva Sans Bold"/>
                <a:cs typeface="Canva Sans Bold"/>
                <a:sym typeface="Canva Sans Bold"/>
              </a:rPr>
              <a:t>Need for Uncertainty Modeling:</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R</a:t>
            </a:r>
            <a:r>
              <a:rPr lang="en-US" sz="2500">
                <a:solidFill>
                  <a:srgbClr val="000000"/>
                </a:solidFill>
                <a:latin typeface="Canva Sans"/>
                <a:ea typeface="Canva Sans"/>
                <a:cs typeface="Canva Sans"/>
                <a:sym typeface="Canva Sans"/>
              </a:rPr>
              <a:t>eal-world systems exhibit inherent randomness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Effective decisions depend on understanding risk and variability, not just outcomes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6478265" y="467188"/>
            <a:ext cx="5952500" cy="1068671"/>
            <a:chOff x="0" y="0"/>
            <a:chExt cx="7936666" cy="1424895"/>
          </a:xfrm>
        </p:grpSpPr>
        <p:sp>
          <p:nvSpPr>
            <p:cNvPr name="Freeform 3" id="3"/>
            <p:cNvSpPr/>
            <p:nvPr/>
          </p:nvSpPr>
          <p:spPr>
            <a:xfrm flipH="false" flipV="false" rot="0">
              <a:off x="0" y="0"/>
              <a:ext cx="7936666" cy="1424896"/>
            </a:xfrm>
            <a:custGeom>
              <a:avLst/>
              <a:gdLst/>
              <a:ahLst/>
              <a:cxnLst/>
              <a:rect r="r" b="b" t="t" l="l"/>
              <a:pathLst>
                <a:path h="1424896" w="7936666">
                  <a:moveTo>
                    <a:pt x="0" y="0"/>
                  </a:moveTo>
                  <a:lnTo>
                    <a:pt x="7936666" y="0"/>
                  </a:lnTo>
                  <a:lnTo>
                    <a:pt x="7936666" y="1424896"/>
                  </a:lnTo>
                  <a:lnTo>
                    <a:pt x="0" y="1424896"/>
                  </a:lnTo>
                  <a:close/>
                </a:path>
              </a:pathLst>
            </a:custGeom>
            <a:blipFill>
              <a:blip r:embed="rId2">
                <a:alphaModFix amt="0"/>
              </a:blip>
              <a:stretch>
                <a:fillRect l="0" t="-194566" r="-164987" b="-280624"/>
              </a:stretch>
            </a:blipFill>
          </p:spPr>
        </p:sp>
        <p:sp>
          <p:nvSpPr>
            <p:cNvPr name="TextBox 4" id="4"/>
            <p:cNvSpPr txBox="true"/>
            <p:nvPr/>
          </p:nvSpPr>
          <p:spPr>
            <a:xfrm>
              <a:off x="0" y="47625"/>
              <a:ext cx="7936666"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Problem Formulation</a:t>
              </a:r>
            </a:p>
          </p:txBody>
        </p:sp>
      </p:grpSp>
      <p:grpSp>
        <p:nvGrpSpPr>
          <p:cNvPr name="Group 5" id="5"/>
          <p:cNvGrpSpPr/>
          <p:nvPr/>
        </p:nvGrpSpPr>
        <p:grpSpPr>
          <a:xfrm rot="0">
            <a:off x="2286000" y="10134600"/>
            <a:ext cx="13716000" cy="152400"/>
            <a:chOff x="0" y="0"/>
            <a:chExt cx="18288000" cy="203200"/>
          </a:xfrm>
        </p:grpSpPr>
        <p:sp>
          <p:nvSpPr>
            <p:cNvPr name="Freeform 6" id="6"/>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3"/>
              <a:stretch>
                <a:fillRect l="0" t="-3981" r="0" b="-3981"/>
              </a:stretch>
            </a:blipFill>
          </p:spPr>
        </p:sp>
      </p:grpSp>
      <p:grpSp>
        <p:nvGrpSpPr>
          <p:cNvPr name="Group 7" id="7"/>
          <p:cNvGrpSpPr/>
          <p:nvPr/>
        </p:nvGrpSpPr>
        <p:grpSpPr>
          <a:xfrm rot="0">
            <a:off x="0" y="10134600"/>
            <a:ext cx="3898078" cy="152400"/>
            <a:chOff x="0" y="0"/>
            <a:chExt cx="5197437" cy="203200"/>
          </a:xfrm>
        </p:grpSpPr>
        <p:sp>
          <p:nvSpPr>
            <p:cNvPr name="Freeform 8" id="8"/>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3"/>
              <a:stretch>
                <a:fillRect l="0" t="0" r="-286078" b="-18462"/>
              </a:stretch>
            </a:blipFill>
          </p:spPr>
        </p:sp>
      </p:grpSp>
      <p:grpSp>
        <p:nvGrpSpPr>
          <p:cNvPr name="Group 9" id="9"/>
          <p:cNvGrpSpPr/>
          <p:nvPr/>
        </p:nvGrpSpPr>
        <p:grpSpPr>
          <a:xfrm rot="0">
            <a:off x="14389922" y="10134600"/>
            <a:ext cx="3898078" cy="158248"/>
            <a:chOff x="0" y="0"/>
            <a:chExt cx="5197437" cy="210998"/>
          </a:xfrm>
        </p:grpSpPr>
        <p:sp>
          <p:nvSpPr>
            <p:cNvPr name="Freeform 10" id="10"/>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3"/>
              <a:stretch>
                <a:fillRect l="0" t="0" r="-300882" b="-18488"/>
              </a:stretch>
            </a:blipFill>
          </p:spPr>
        </p:sp>
      </p:grpSp>
      <p:grpSp>
        <p:nvGrpSpPr>
          <p:cNvPr name="Group 11" id="11"/>
          <p:cNvGrpSpPr/>
          <p:nvPr/>
        </p:nvGrpSpPr>
        <p:grpSpPr>
          <a:xfrm rot="0">
            <a:off x="538220" y="9058418"/>
            <a:ext cx="2048723" cy="898484"/>
            <a:chOff x="0" y="0"/>
            <a:chExt cx="2731630" cy="1197978"/>
          </a:xfrm>
        </p:grpSpPr>
        <p:sp>
          <p:nvSpPr>
            <p:cNvPr name="Freeform 12" id="12"/>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4"/>
              <a:stretch>
                <a:fillRect l="-72571" t="-164491" r="-72154" b="-164855"/>
              </a:stretch>
            </a:blipFill>
          </p:spPr>
        </p:sp>
      </p:grpSp>
      <p:sp>
        <p:nvSpPr>
          <p:cNvPr name="Freeform 13" id="13"/>
          <p:cNvSpPr/>
          <p:nvPr/>
        </p:nvSpPr>
        <p:spPr>
          <a:xfrm flipH="false" flipV="false" rot="0">
            <a:off x="10425374" y="3515335"/>
            <a:ext cx="6833926" cy="3726768"/>
          </a:xfrm>
          <a:custGeom>
            <a:avLst/>
            <a:gdLst/>
            <a:ahLst/>
            <a:cxnLst/>
            <a:rect r="r" b="b" t="t" l="l"/>
            <a:pathLst>
              <a:path h="3726768" w="6833926">
                <a:moveTo>
                  <a:pt x="0" y="0"/>
                </a:moveTo>
                <a:lnTo>
                  <a:pt x="6833926" y="0"/>
                </a:lnTo>
                <a:lnTo>
                  <a:pt x="6833926" y="3726767"/>
                </a:lnTo>
                <a:lnTo>
                  <a:pt x="0" y="3726767"/>
                </a:lnTo>
                <a:lnTo>
                  <a:pt x="0" y="0"/>
                </a:lnTo>
                <a:close/>
              </a:path>
            </a:pathLst>
          </a:custGeom>
          <a:blipFill>
            <a:blip r:embed="rId5"/>
            <a:stretch>
              <a:fillRect l="0" t="0" r="0" b="0"/>
            </a:stretch>
          </a:blipFill>
        </p:spPr>
      </p:sp>
      <p:sp>
        <p:nvSpPr>
          <p:cNvPr name="TextBox 14" id="14"/>
          <p:cNvSpPr txBox="true"/>
          <p:nvPr/>
        </p:nvSpPr>
        <p:spPr>
          <a:xfrm rot="0">
            <a:off x="1949039" y="4222426"/>
            <a:ext cx="8347230" cy="2255435"/>
          </a:xfrm>
          <a:prstGeom prst="rect">
            <a:avLst/>
          </a:prstGeom>
        </p:spPr>
        <p:txBody>
          <a:bodyPr anchor="t" rtlCol="false" tIns="0" lIns="0" bIns="0" rIns="0">
            <a:spAutoFit/>
          </a:bodyPr>
          <a:lstStyle/>
          <a:p>
            <a:pPr algn="l">
              <a:lnSpc>
                <a:spcPts val="4059"/>
              </a:lnSpc>
            </a:pPr>
            <a:r>
              <a:rPr lang="en-US" sz="2899" b="true">
                <a:solidFill>
                  <a:srgbClr val="000000"/>
                </a:solidFill>
                <a:latin typeface="Canva Sans Bold"/>
                <a:ea typeface="Canva Sans Bold"/>
                <a:cs typeface="Canva Sans Bold"/>
                <a:sym typeface="Canva Sans Bold"/>
              </a:rPr>
              <a:t>Role of Probabilistic Techniques: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Enable estimation of event likelihood instead of fixed values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Capture a range of possible outcomes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Improve reliability in extreme scenarios</a:t>
            </a:r>
          </a:p>
        </p:txBody>
      </p:sp>
      <p:sp>
        <p:nvSpPr>
          <p:cNvPr name="TextBox 15" id="15"/>
          <p:cNvSpPr txBox="true"/>
          <p:nvPr/>
        </p:nvSpPr>
        <p:spPr>
          <a:xfrm rot="0">
            <a:off x="1893878" y="6801711"/>
            <a:ext cx="9168774" cy="2255435"/>
          </a:xfrm>
          <a:prstGeom prst="rect">
            <a:avLst/>
          </a:prstGeom>
        </p:spPr>
        <p:txBody>
          <a:bodyPr anchor="t" rtlCol="false" tIns="0" lIns="0" bIns="0" rIns="0">
            <a:spAutoFit/>
          </a:bodyPr>
          <a:lstStyle/>
          <a:p>
            <a:pPr algn="l">
              <a:lnSpc>
                <a:spcPts val="4059"/>
              </a:lnSpc>
            </a:pPr>
            <a:r>
              <a:rPr lang="en-US" sz="2899" b="true">
                <a:solidFill>
                  <a:srgbClr val="000000"/>
                </a:solidFill>
                <a:latin typeface="Canva Sans Bold"/>
                <a:ea typeface="Canva Sans Bold"/>
                <a:cs typeface="Canva Sans Bold"/>
                <a:sym typeface="Canva Sans Bold"/>
              </a:rPr>
              <a:t>Nature of the Challenge:</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Extreme weather events lie in the tail of the distribution, where data is sparse and highly unpredictable</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Small deviations in prediction can result in significant real-world impact</a:t>
            </a:r>
          </a:p>
        </p:txBody>
      </p:sp>
      <p:sp>
        <p:nvSpPr>
          <p:cNvPr name="TextBox 16" id="16"/>
          <p:cNvSpPr txBox="true"/>
          <p:nvPr/>
        </p:nvSpPr>
        <p:spPr>
          <a:xfrm rot="0">
            <a:off x="1949039" y="2079991"/>
            <a:ext cx="8347230" cy="1817313"/>
          </a:xfrm>
          <a:prstGeom prst="rect">
            <a:avLst/>
          </a:prstGeom>
        </p:spPr>
        <p:txBody>
          <a:bodyPr anchor="t" rtlCol="false" tIns="0" lIns="0" bIns="0" rIns="0">
            <a:spAutoFit/>
          </a:bodyPr>
          <a:lstStyle/>
          <a:p>
            <a:pPr algn="l">
              <a:lnSpc>
                <a:spcPts val="4059"/>
              </a:lnSpc>
            </a:pPr>
            <a:r>
              <a:rPr lang="en-US" sz="2899" b="true">
                <a:solidFill>
                  <a:srgbClr val="000000"/>
                </a:solidFill>
                <a:latin typeface="Canva Sans Bold"/>
                <a:ea typeface="Canva Sans Bold"/>
                <a:cs typeface="Canva Sans Bold"/>
                <a:sym typeface="Canva Sans Bold"/>
              </a:rPr>
              <a:t>Limitation of Deterministic Methods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P</a:t>
            </a:r>
            <a:r>
              <a:rPr lang="en-US" sz="2500">
                <a:solidFill>
                  <a:srgbClr val="000000"/>
                </a:solidFill>
                <a:latin typeface="Canva Sans"/>
                <a:ea typeface="Canva Sans"/>
                <a:cs typeface="Canva Sans"/>
                <a:sym typeface="Canva Sans"/>
              </a:rPr>
              <a:t>rovide single-point outputs, ignoring variability</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Do not represent uncertainty or confidence levels</a:t>
            </a:r>
          </a:p>
          <a:p>
            <a:pPr algn="l" marL="539751" indent="-269876" lvl="1">
              <a:lnSpc>
                <a:spcPts val="3500"/>
              </a:lnSpc>
              <a:buFont typeface="Arial"/>
              <a:buChar char="•"/>
            </a:pPr>
            <a:r>
              <a:rPr lang="en-US" sz="2500">
                <a:solidFill>
                  <a:srgbClr val="000000"/>
                </a:solidFill>
                <a:latin typeface="Canva Sans"/>
                <a:ea typeface="Canva Sans"/>
                <a:cs typeface="Canva Sans"/>
                <a:sym typeface="Canva Sans"/>
              </a:rPr>
              <a:t>Struggle to capture rare, high-impact events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432126" y="467188"/>
            <a:ext cx="5423748" cy="1068671"/>
            <a:chOff x="0" y="0"/>
            <a:chExt cx="7231665" cy="1424895"/>
          </a:xfrm>
        </p:grpSpPr>
        <p:sp>
          <p:nvSpPr>
            <p:cNvPr name="Freeform 11" id="11"/>
            <p:cNvSpPr/>
            <p:nvPr/>
          </p:nvSpPr>
          <p:spPr>
            <a:xfrm flipH="false" flipV="false" rot="0">
              <a:off x="0" y="0"/>
              <a:ext cx="7231665" cy="1424896"/>
            </a:xfrm>
            <a:custGeom>
              <a:avLst/>
              <a:gdLst/>
              <a:ahLst/>
              <a:cxnLst/>
              <a:rect r="r" b="b" t="t" l="l"/>
              <a:pathLst>
                <a:path h="1424896" w="7231665">
                  <a:moveTo>
                    <a:pt x="0" y="0"/>
                  </a:moveTo>
                  <a:lnTo>
                    <a:pt x="7231665" y="0"/>
                  </a:lnTo>
                  <a:lnTo>
                    <a:pt x="7231665" y="1424896"/>
                  </a:lnTo>
                  <a:lnTo>
                    <a:pt x="0" y="1424896"/>
                  </a:lnTo>
                  <a:close/>
                </a:path>
              </a:pathLst>
            </a:custGeom>
            <a:blipFill>
              <a:blip r:embed="rId4">
                <a:alphaModFix amt="0"/>
              </a:blip>
              <a:stretch>
                <a:fillRect l="0" t="-194566" r="-190821" b="-280624"/>
              </a:stretch>
            </a:blipFill>
          </p:spPr>
        </p:sp>
        <p:sp>
          <p:nvSpPr>
            <p:cNvPr name="TextBox 12" id="12"/>
            <p:cNvSpPr txBox="true"/>
            <p:nvPr/>
          </p:nvSpPr>
          <p:spPr>
            <a:xfrm>
              <a:off x="0" y="47625"/>
              <a:ext cx="7231665"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Mathematical Model</a:t>
              </a:r>
            </a:p>
          </p:txBody>
        </p:sp>
      </p:grpSp>
      <p:sp>
        <p:nvSpPr>
          <p:cNvPr name="Freeform 13" id="13"/>
          <p:cNvSpPr/>
          <p:nvPr/>
        </p:nvSpPr>
        <p:spPr>
          <a:xfrm flipH="false" flipV="false" rot="0">
            <a:off x="1193654" y="2369543"/>
            <a:ext cx="5238472" cy="5238472"/>
          </a:xfrm>
          <a:custGeom>
            <a:avLst/>
            <a:gdLst/>
            <a:ahLst/>
            <a:cxnLst/>
            <a:rect r="r" b="b" t="t" l="l"/>
            <a:pathLst>
              <a:path h="5238472" w="5238472">
                <a:moveTo>
                  <a:pt x="0" y="0"/>
                </a:moveTo>
                <a:lnTo>
                  <a:pt x="5238472" y="0"/>
                </a:lnTo>
                <a:lnTo>
                  <a:pt x="5238472" y="5238472"/>
                </a:lnTo>
                <a:lnTo>
                  <a:pt x="0" y="52384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562581" y="2551288"/>
            <a:ext cx="4295681" cy="5127274"/>
          </a:xfrm>
          <a:prstGeom prst="rect">
            <a:avLst/>
          </a:prstGeom>
        </p:spPr>
        <p:txBody>
          <a:bodyPr anchor="t" rtlCol="false" tIns="0" lIns="0" bIns="0" rIns="0">
            <a:spAutoFit/>
          </a:bodyPr>
          <a:lstStyle/>
          <a:p>
            <a:pPr algn="ctr">
              <a:lnSpc>
                <a:spcPts val="4060"/>
              </a:lnSpc>
            </a:pPr>
            <a:r>
              <a:rPr lang="en-US" sz="2900" b="true">
                <a:solidFill>
                  <a:srgbClr val="000000"/>
                </a:solidFill>
                <a:latin typeface="Canva Sans Bold"/>
                <a:ea typeface="Canva Sans Bold"/>
                <a:cs typeface="Canva Sans Bold"/>
                <a:sym typeface="Canva Sans Bold"/>
              </a:rPr>
              <a:t>Event Definition</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An extreme event is defined using a threshold     :</a:t>
            </a:r>
          </a:p>
          <a:p>
            <a:pPr algn="ctr">
              <a:lnSpc>
                <a:spcPts val="4060"/>
              </a:lnSpc>
            </a:pPr>
            <a:r>
              <a:rPr lang="en-US" sz="2900">
                <a:solidFill>
                  <a:srgbClr val="000000"/>
                </a:solidFill>
                <a:latin typeface="Canva Sans"/>
                <a:ea typeface="Canva Sans"/>
                <a:cs typeface="Canva Sans"/>
                <a:sym typeface="Canva Sans"/>
              </a:rPr>
              <a:t>X &gt; </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Transforms the problem into identifying tail-region behavior</a:t>
            </a:r>
          </a:p>
          <a:p>
            <a:pPr algn="l">
              <a:lnSpc>
                <a:spcPts val="4060"/>
              </a:lnSpc>
            </a:pPr>
          </a:p>
        </p:txBody>
      </p:sp>
      <p:pic>
        <p:nvPicPr>
          <p:cNvPr name="Picture 15" id="15"/>
          <p:cNvPicPr>
            <a:picLocks noChangeAspect="true"/>
          </p:cNvPicPr>
          <p:nvPr/>
        </p:nvPicPr>
        <p:blipFill>
          <a:blip r:embed="rId7"/>
          <a:stretch>
            <a:fillRect/>
          </a:stretch>
        </p:blipFill>
        <p:spPr>
          <a:xfrm rot="0">
            <a:off x="3985926" y="4223077"/>
            <a:ext cx="358153" cy="314379"/>
          </a:xfrm>
          <a:prstGeom prst="rect">
            <a:avLst/>
          </a:prstGeom>
        </p:spPr>
      </p:pic>
      <p:pic>
        <p:nvPicPr>
          <p:cNvPr name="Picture 16" id="16"/>
          <p:cNvPicPr>
            <a:picLocks noChangeAspect="true"/>
          </p:cNvPicPr>
          <p:nvPr/>
        </p:nvPicPr>
        <p:blipFill>
          <a:blip r:embed="rId8"/>
          <a:stretch>
            <a:fillRect/>
          </a:stretch>
        </p:blipFill>
        <p:spPr>
          <a:xfrm rot="0">
            <a:off x="3936934" y="4724282"/>
            <a:ext cx="358153" cy="314379"/>
          </a:xfrm>
          <a:prstGeom prst="rect">
            <a:avLst/>
          </a:prstGeom>
        </p:spPr>
      </p:pic>
      <p:sp>
        <p:nvSpPr>
          <p:cNvPr name="Freeform 17" id="17"/>
          <p:cNvSpPr/>
          <p:nvPr/>
        </p:nvSpPr>
        <p:spPr>
          <a:xfrm flipH="false" flipV="false" rot="0">
            <a:off x="6626050" y="2369543"/>
            <a:ext cx="5229824" cy="5229824"/>
          </a:xfrm>
          <a:custGeom>
            <a:avLst/>
            <a:gdLst/>
            <a:ahLst/>
            <a:cxnLst/>
            <a:rect r="r" b="b" t="t" l="l"/>
            <a:pathLst>
              <a:path h="5229824" w="5229824">
                <a:moveTo>
                  <a:pt x="0" y="0"/>
                </a:moveTo>
                <a:lnTo>
                  <a:pt x="5229824" y="0"/>
                </a:lnTo>
                <a:lnTo>
                  <a:pt x="5229824" y="5229824"/>
                </a:lnTo>
                <a:lnTo>
                  <a:pt x="0" y="52298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6895249" y="2551288"/>
            <a:ext cx="4697802" cy="4612895"/>
          </a:xfrm>
          <a:prstGeom prst="rect">
            <a:avLst/>
          </a:prstGeom>
        </p:spPr>
        <p:txBody>
          <a:bodyPr anchor="t" rtlCol="false" tIns="0" lIns="0" bIns="0" rIns="0">
            <a:spAutoFit/>
          </a:bodyPr>
          <a:lstStyle/>
          <a:p>
            <a:pPr algn="ctr">
              <a:lnSpc>
                <a:spcPts val="4060"/>
              </a:lnSpc>
            </a:pPr>
            <a:r>
              <a:rPr lang="en-US" sz="2900" b="true">
                <a:solidFill>
                  <a:srgbClr val="000000"/>
                </a:solidFill>
                <a:latin typeface="Canva Sans Bold"/>
                <a:ea typeface="Canva Sans Bold"/>
                <a:cs typeface="Canva Sans Bold"/>
                <a:sym typeface="Canva Sans Bold"/>
              </a:rPr>
              <a:t>Probabilistic Representation</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Model the likelihood of a</a:t>
            </a:r>
            <a:r>
              <a:rPr lang="en-US" sz="2900">
                <a:solidFill>
                  <a:srgbClr val="000000"/>
                </a:solidFill>
                <a:latin typeface="Canva Sans"/>
                <a:ea typeface="Canva Sans"/>
                <a:cs typeface="Canva Sans"/>
                <a:sym typeface="Canva Sans"/>
              </a:rPr>
              <a:t>n extreme event as:</a:t>
            </a:r>
          </a:p>
          <a:p>
            <a:pPr algn="ctr">
              <a:lnSpc>
                <a:spcPts val="4060"/>
              </a:lnSpc>
            </a:pPr>
            <a:r>
              <a:rPr lang="en-US" sz="2900">
                <a:solidFill>
                  <a:srgbClr val="000000"/>
                </a:solidFill>
                <a:latin typeface="Canva Sans"/>
                <a:ea typeface="Canva Sans"/>
                <a:cs typeface="Canva Sans"/>
                <a:sym typeface="Canva Sans"/>
              </a:rPr>
              <a:t> </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Converts prediction into a probability estimation problem</a:t>
            </a:r>
          </a:p>
        </p:txBody>
      </p:sp>
      <p:pic>
        <p:nvPicPr>
          <p:cNvPr name="Picture 19" id="19"/>
          <p:cNvPicPr>
            <a:picLocks noChangeAspect="true"/>
          </p:cNvPicPr>
          <p:nvPr/>
        </p:nvPicPr>
        <p:blipFill>
          <a:blip r:embed="rId9"/>
          <a:stretch>
            <a:fillRect/>
          </a:stretch>
        </p:blipFill>
        <p:spPr>
          <a:xfrm rot="0">
            <a:off x="8186858" y="4983976"/>
            <a:ext cx="1914283" cy="696387"/>
          </a:xfrm>
          <a:prstGeom prst="rect">
            <a:avLst/>
          </a:prstGeom>
        </p:spPr>
      </p:pic>
      <p:sp>
        <p:nvSpPr>
          <p:cNvPr name="Freeform 20" id="20"/>
          <p:cNvSpPr/>
          <p:nvPr/>
        </p:nvSpPr>
        <p:spPr>
          <a:xfrm flipH="false" flipV="false" rot="0">
            <a:off x="12125209" y="2364704"/>
            <a:ext cx="5234663" cy="5234663"/>
          </a:xfrm>
          <a:custGeom>
            <a:avLst/>
            <a:gdLst/>
            <a:ahLst/>
            <a:cxnLst/>
            <a:rect r="r" b="b" t="t" l="l"/>
            <a:pathLst>
              <a:path h="5234663" w="5234663">
                <a:moveTo>
                  <a:pt x="0" y="0"/>
                </a:moveTo>
                <a:lnTo>
                  <a:pt x="5234663" y="0"/>
                </a:lnTo>
                <a:lnTo>
                  <a:pt x="5234663" y="5234663"/>
                </a:lnTo>
                <a:lnTo>
                  <a:pt x="0" y="52346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2427374" y="2551288"/>
            <a:ext cx="4697802" cy="4612895"/>
          </a:xfrm>
          <a:prstGeom prst="rect">
            <a:avLst/>
          </a:prstGeom>
        </p:spPr>
        <p:txBody>
          <a:bodyPr anchor="t" rtlCol="false" tIns="0" lIns="0" bIns="0" rIns="0">
            <a:spAutoFit/>
          </a:bodyPr>
          <a:lstStyle/>
          <a:p>
            <a:pPr algn="ctr">
              <a:lnSpc>
                <a:spcPts val="4060"/>
              </a:lnSpc>
            </a:pPr>
            <a:r>
              <a:rPr lang="en-US" sz="2900" b="true">
                <a:solidFill>
                  <a:srgbClr val="000000"/>
                </a:solidFill>
                <a:latin typeface="Canva Sans Bold"/>
                <a:ea typeface="Canva Sans Bold"/>
                <a:cs typeface="Canva Sans Bold"/>
                <a:sym typeface="Canva Sans Bold"/>
              </a:rPr>
              <a:t>Logistic Regression Model</a:t>
            </a:r>
          </a:p>
          <a:p>
            <a:pPr algn="ctr">
              <a:lnSpc>
                <a:spcPts val="4060"/>
              </a:lnSpc>
            </a:pPr>
          </a:p>
          <a:p>
            <a:pPr algn="ctr">
              <a:lnSpc>
                <a:spcPts val="4060"/>
              </a:lnSpc>
            </a:pP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Maps input features to a</a:t>
            </a:r>
            <a:r>
              <a:rPr lang="en-US" sz="2900">
                <a:solidFill>
                  <a:srgbClr val="000000"/>
                </a:solidFill>
                <a:latin typeface="Canva Sans"/>
                <a:ea typeface="Canva Sans"/>
                <a:cs typeface="Canva Sans"/>
                <a:sym typeface="Canva Sans"/>
              </a:rPr>
              <a:t> probability between 0 and 1</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Captures transition from normal to extreme conditions</a:t>
            </a:r>
          </a:p>
        </p:txBody>
      </p:sp>
      <p:pic>
        <p:nvPicPr>
          <p:cNvPr name="Picture 22" id="22"/>
          <p:cNvPicPr>
            <a:picLocks noChangeAspect="true"/>
          </p:cNvPicPr>
          <p:nvPr/>
        </p:nvPicPr>
        <p:blipFill>
          <a:blip r:embed="rId10"/>
          <a:stretch>
            <a:fillRect/>
          </a:stretch>
        </p:blipFill>
        <p:spPr>
          <a:xfrm rot="0">
            <a:off x="12885531" y="2966106"/>
            <a:ext cx="3917872" cy="1250588"/>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432126" y="467188"/>
            <a:ext cx="5423748" cy="1068671"/>
            <a:chOff x="0" y="0"/>
            <a:chExt cx="7231665" cy="1424895"/>
          </a:xfrm>
        </p:grpSpPr>
        <p:sp>
          <p:nvSpPr>
            <p:cNvPr name="Freeform 11" id="11"/>
            <p:cNvSpPr/>
            <p:nvPr/>
          </p:nvSpPr>
          <p:spPr>
            <a:xfrm flipH="false" flipV="false" rot="0">
              <a:off x="0" y="0"/>
              <a:ext cx="7231665" cy="1424896"/>
            </a:xfrm>
            <a:custGeom>
              <a:avLst/>
              <a:gdLst/>
              <a:ahLst/>
              <a:cxnLst/>
              <a:rect r="r" b="b" t="t" l="l"/>
              <a:pathLst>
                <a:path h="1424896" w="7231665">
                  <a:moveTo>
                    <a:pt x="0" y="0"/>
                  </a:moveTo>
                  <a:lnTo>
                    <a:pt x="7231665" y="0"/>
                  </a:lnTo>
                  <a:lnTo>
                    <a:pt x="7231665" y="1424896"/>
                  </a:lnTo>
                  <a:lnTo>
                    <a:pt x="0" y="1424896"/>
                  </a:lnTo>
                  <a:close/>
                </a:path>
              </a:pathLst>
            </a:custGeom>
            <a:blipFill>
              <a:blip r:embed="rId4">
                <a:alphaModFix amt="0"/>
              </a:blip>
              <a:stretch>
                <a:fillRect l="0" t="-194566" r="-190821" b="-280624"/>
              </a:stretch>
            </a:blipFill>
          </p:spPr>
        </p:sp>
        <p:sp>
          <p:nvSpPr>
            <p:cNvPr name="TextBox 12" id="12"/>
            <p:cNvSpPr txBox="true"/>
            <p:nvPr/>
          </p:nvSpPr>
          <p:spPr>
            <a:xfrm>
              <a:off x="0" y="47625"/>
              <a:ext cx="7231665"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Mathematical Model</a:t>
              </a:r>
            </a:p>
          </p:txBody>
        </p:sp>
      </p:grpSp>
      <p:sp>
        <p:nvSpPr>
          <p:cNvPr name="Freeform 13" id="13"/>
          <p:cNvSpPr/>
          <p:nvPr/>
        </p:nvSpPr>
        <p:spPr>
          <a:xfrm flipH="false" flipV="false" rot="0">
            <a:off x="1193654" y="2369543"/>
            <a:ext cx="5238472" cy="5238472"/>
          </a:xfrm>
          <a:custGeom>
            <a:avLst/>
            <a:gdLst/>
            <a:ahLst/>
            <a:cxnLst/>
            <a:rect r="r" b="b" t="t" l="l"/>
            <a:pathLst>
              <a:path h="5238472" w="5238472">
                <a:moveTo>
                  <a:pt x="0" y="0"/>
                </a:moveTo>
                <a:lnTo>
                  <a:pt x="5238472" y="0"/>
                </a:lnTo>
                <a:lnTo>
                  <a:pt x="5238472" y="5238472"/>
                </a:lnTo>
                <a:lnTo>
                  <a:pt x="0" y="52384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378117" y="2551288"/>
            <a:ext cx="4873133" cy="4965877"/>
          </a:xfrm>
          <a:prstGeom prst="rect">
            <a:avLst/>
          </a:prstGeom>
        </p:spPr>
        <p:txBody>
          <a:bodyPr anchor="t" rtlCol="false" tIns="0" lIns="0" bIns="0" rIns="0">
            <a:spAutoFit/>
          </a:bodyPr>
          <a:lstStyle/>
          <a:p>
            <a:pPr algn="ctr">
              <a:lnSpc>
                <a:spcPts val="3930"/>
              </a:lnSpc>
            </a:pPr>
            <a:r>
              <a:rPr lang="en-US" sz="2807" b="true">
                <a:solidFill>
                  <a:srgbClr val="000000"/>
                </a:solidFill>
                <a:latin typeface="Canva Sans Bold"/>
                <a:ea typeface="Canva Sans Bold"/>
                <a:cs typeface="Canva Sans Bold"/>
                <a:sym typeface="Canva Sans Bold"/>
              </a:rPr>
              <a:t>Bayesian Inference Update</a:t>
            </a:r>
          </a:p>
          <a:p>
            <a:pPr algn="l">
              <a:lnSpc>
                <a:spcPts val="3930"/>
              </a:lnSpc>
            </a:pPr>
          </a:p>
          <a:p>
            <a:pPr algn="l">
              <a:lnSpc>
                <a:spcPts val="3930"/>
              </a:lnSpc>
            </a:pPr>
          </a:p>
          <a:p>
            <a:pPr algn="l" marL="606180" indent="-303090" lvl="1">
              <a:lnSpc>
                <a:spcPts val="3930"/>
              </a:lnSpc>
              <a:buFont typeface="Arial"/>
              <a:buChar char="•"/>
            </a:pPr>
            <a:r>
              <a:rPr lang="en-US" sz="2807">
                <a:solidFill>
                  <a:srgbClr val="000000"/>
                </a:solidFill>
                <a:latin typeface="Canva Sans"/>
                <a:ea typeface="Canva Sans"/>
                <a:cs typeface="Canva Sans"/>
                <a:sym typeface="Canva Sans"/>
              </a:rPr>
              <a:t>Updates model parameters using observed data</a:t>
            </a:r>
          </a:p>
          <a:p>
            <a:pPr algn="l" marL="606180" indent="-303090" lvl="1">
              <a:lnSpc>
                <a:spcPts val="3930"/>
              </a:lnSpc>
              <a:buFont typeface="Arial"/>
              <a:buChar char="•"/>
            </a:pPr>
            <a:r>
              <a:rPr lang="en-US" sz="2807">
                <a:solidFill>
                  <a:srgbClr val="000000"/>
                </a:solidFill>
                <a:latin typeface="Canva Sans"/>
                <a:ea typeface="Canva Sans"/>
                <a:cs typeface="Canva Sans"/>
                <a:sym typeface="Canva Sans"/>
              </a:rPr>
              <a:t>Incorporates prior knowledge with new evidence</a:t>
            </a:r>
          </a:p>
          <a:p>
            <a:pPr algn="l">
              <a:lnSpc>
                <a:spcPts val="3930"/>
              </a:lnSpc>
            </a:pPr>
          </a:p>
        </p:txBody>
      </p:sp>
      <p:sp>
        <p:nvSpPr>
          <p:cNvPr name="Freeform 15" id="15"/>
          <p:cNvSpPr/>
          <p:nvPr/>
        </p:nvSpPr>
        <p:spPr>
          <a:xfrm flipH="false" flipV="false" rot="0">
            <a:off x="6626050" y="2369543"/>
            <a:ext cx="5229824" cy="5229824"/>
          </a:xfrm>
          <a:custGeom>
            <a:avLst/>
            <a:gdLst/>
            <a:ahLst/>
            <a:cxnLst/>
            <a:rect r="r" b="b" t="t" l="l"/>
            <a:pathLst>
              <a:path h="5229824" w="5229824">
                <a:moveTo>
                  <a:pt x="0" y="0"/>
                </a:moveTo>
                <a:lnTo>
                  <a:pt x="5229824" y="0"/>
                </a:lnTo>
                <a:lnTo>
                  <a:pt x="5229824" y="5229824"/>
                </a:lnTo>
                <a:lnTo>
                  <a:pt x="0" y="52298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2125209" y="2364704"/>
            <a:ext cx="5234663" cy="5234663"/>
          </a:xfrm>
          <a:custGeom>
            <a:avLst/>
            <a:gdLst/>
            <a:ahLst/>
            <a:cxnLst/>
            <a:rect r="r" b="b" t="t" l="l"/>
            <a:pathLst>
              <a:path h="5234663" w="5234663">
                <a:moveTo>
                  <a:pt x="0" y="0"/>
                </a:moveTo>
                <a:lnTo>
                  <a:pt x="5234663" y="0"/>
                </a:lnTo>
                <a:lnTo>
                  <a:pt x="5234663" y="5234663"/>
                </a:lnTo>
                <a:lnTo>
                  <a:pt x="0" y="52346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177730" y="2551288"/>
            <a:ext cx="5129620" cy="4098517"/>
          </a:xfrm>
          <a:prstGeom prst="rect">
            <a:avLst/>
          </a:prstGeom>
        </p:spPr>
        <p:txBody>
          <a:bodyPr anchor="t" rtlCol="false" tIns="0" lIns="0" bIns="0" rIns="0">
            <a:spAutoFit/>
          </a:bodyPr>
          <a:lstStyle/>
          <a:p>
            <a:pPr algn="ctr">
              <a:lnSpc>
                <a:spcPts val="4060"/>
              </a:lnSpc>
            </a:pPr>
            <a:r>
              <a:rPr lang="en-US" sz="2900" b="true">
                <a:solidFill>
                  <a:srgbClr val="000000"/>
                </a:solidFill>
                <a:latin typeface="Canva Sans Bold"/>
                <a:ea typeface="Canva Sans Bold"/>
                <a:cs typeface="Canva Sans Bold"/>
                <a:sym typeface="Canva Sans Bold"/>
              </a:rPr>
              <a:t>Model Variables</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X: Input Variables</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   : Threshold for extreme events</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Y: Event Indicator (0 or 1)</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        : Model parameters</a:t>
            </a:r>
          </a:p>
          <a:p>
            <a:pPr algn="l" marL="626111" indent="-313055" lvl="1">
              <a:lnSpc>
                <a:spcPts val="4060"/>
              </a:lnSpc>
              <a:buFont typeface="Arial"/>
              <a:buChar char="•"/>
            </a:pPr>
            <a:r>
              <a:rPr lang="en-US" sz="2900">
                <a:solidFill>
                  <a:srgbClr val="000000"/>
                </a:solidFill>
                <a:latin typeface="Canva Sans"/>
                <a:ea typeface="Canva Sans"/>
                <a:cs typeface="Canva Sans"/>
                <a:sym typeface="Canva Sans"/>
              </a:rPr>
              <a:t>   : Parameter set for Bayesian update</a:t>
            </a:r>
          </a:p>
        </p:txBody>
      </p:sp>
      <p:pic>
        <p:nvPicPr>
          <p:cNvPr name="Picture 18" id="18"/>
          <p:cNvPicPr>
            <a:picLocks noChangeAspect="true"/>
          </p:cNvPicPr>
          <p:nvPr/>
        </p:nvPicPr>
        <p:blipFill>
          <a:blip r:embed="rId7"/>
          <a:stretch>
            <a:fillRect/>
          </a:stretch>
        </p:blipFill>
        <p:spPr>
          <a:xfrm rot="0">
            <a:off x="1299420" y="2978547"/>
            <a:ext cx="5026939" cy="1225704"/>
          </a:xfrm>
          <a:prstGeom prst="rect">
            <a:avLst/>
          </a:prstGeom>
        </p:spPr>
      </p:pic>
      <p:sp>
        <p:nvSpPr>
          <p:cNvPr name="TextBox 19" id="19"/>
          <p:cNvSpPr txBox="true"/>
          <p:nvPr/>
        </p:nvSpPr>
        <p:spPr>
          <a:xfrm rot="0">
            <a:off x="6804396" y="2551288"/>
            <a:ext cx="4873133" cy="4938268"/>
          </a:xfrm>
          <a:prstGeom prst="rect">
            <a:avLst/>
          </a:prstGeom>
        </p:spPr>
        <p:txBody>
          <a:bodyPr anchor="t" rtlCol="false" tIns="0" lIns="0" bIns="0" rIns="0">
            <a:spAutoFit/>
          </a:bodyPr>
          <a:lstStyle/>
          <a:p>
            <a:pPr algn="ctr">
              <a:lnSpc>
                <a:spcPts val="3930"/>
              </a:lnSpc>
            </a:pPr>
            <a:r>
              <a:rPr lang="en-US" sz="2807" b="true">
                <a:solidFill>
                  <a:srgbClr val="000000"/>
                </a:solidFill>
                <a:latin typeface="Canva Sans Bold"/>
                <a:ea typeface="Canva Sans Bold"/>
                <a:cs typeface="Canva Sans Bold"/>
                <a:sym typeface="Canva Sans Bold"/>
              </a:rPr>
              <a:t>Ensemble Representation</a:t>
            </a:r>
          </a:p>
          <a:p>
            <a:pPr algn="l" marL="606179" indent="-303090" lvl="1">
              <a:lnSpc>
                <a:spcPts val="3930"/>
              </a:lnSpc>
              <a:buFont typeface="Arial"/>
              <a:buChar char="•"/>
            </a:pPr>
            <a:r>
              <a:rPr lang="en-US" sz="2807">
                <a:solidFill>
                  <a:srgbClr val="000000"/>
                </a:solidFill>
                <a:latin typeface="Canva Sans"/>
                <a:ea typeface="Canva Sans"/>
                <a:cs typeface="Canva Sans"/>
                <a:sym typeface="Canva Sans"/>
              </a:rPr>
              <a:t>G</a:t>
            </a:r>
            <a:r>
              <a:rPr lang="en-US" sz="2807">
                <a:solidFill>
                  <a:srgbClr val="000000"/>
                </a:solidFill>
                <a:latin typeface="Canva Sans"/>
                <a:ea typeface="Canva Sans"/>
                <a:cs typeface="Canva Sans"/>
                <a:sym typeface="Canva Sans"/>
              </a:rPr>
              <a:t>enerate multiple predictions:</a:t>
            </a:r>
          </a:p>
          <a:p>
            <a:pPr algn="l">
              <a:lnSpc>
                <a:spcPts val="3930"/>
              </a:lnSpc>
            </a:pPr>
          </a:p>
          <a:p>
            <a:pPr algn="l" marL="606179" indent="-303090" lvl="1">
              <a:lnSpc>
                <a:spcPts val="3930"/>
              </a:lnSpc>
              <a:buFont typeface="Arial"/>
              <a:buChar char="•"/>
            </a:pPr>
            <a:r>
              <a:rPr lang="en-US" sz="2807">
                <a:solidFill>
                  <a:srgbClr val="000000"/>
                </a:solidFill>
                <a:latin typeface="Canva Sans"/>
                <a:ea typeface="Canva Sans"/>
                <a:cs typeface="Canva Sans"/>
                <a:sym typeface="Canva Sans"/>
              </a:rPr>
              <a:t>Estim</a:t>
            </a:r>
            <a:r>
              <a:rPr lang="en-US" sz="2807">
                <a:solidFill>
                  <a:srgbClr val="000000"/>
                </a:solidFill>
                <a:latin typeface="Canva Sans"/>
                <a:ea typeface="Canva Sans"/>
                <a:cs typeface="Canva Sans"/>
                <a:sym typeface="Canva Sans"/>
              </a:rPr>
              <a:t>ate distribution characteristics:</a:t>
            </a:r>
          </a:p>
          <a:p>
            <a:pPr algn="l" marL="606179" indent="-303090" lvl="1">
              <a:lnSpc>
                <a:spcPts val="3930"/>
              </a:lnSpc>
              <a:buAutoNum type="arabicPeriod" startAt="1"/>
            </a:pPr>
            <a:r>
              <a:rPr lang="en-US" sz="2807">
                <a:solidFill>
                  <a:srgbClr val="000000"/>
                </a:solidFill>
                <a:latin typeface="Canva Sans"/>
                <a:ea typeface="Canva Sans"/>
                <a:cs typeface="Canva Sans"/>
                <a:sym typeface="Canva Sans"/>
              </a:rPr>
              <a:t>Mean (expected outcome)</a:t>
            </a:r>
          </a:p>
          <a:p>
            <a:pPr algn="l" marL="606179" indent="-303090" lvl="1">
              <a:lnSpc>
                <a:spcPts val="3930"/>
              </a:lnSpc>
              <a:buAutoNum type="arabicPeriod" startAt="1"/>
            </a:pPr>
            <a:r>
              <a:rPr lang="en-US" sz="2807">
                <a:solidFill>
                  <a:srgbClr val="000000"/>
                </a:solidFill>
                <a:latin typeface="Canva Sans"/>
                <a:ea typeface="Canva Sans"/>
                <a:cs typeface="Canva Sans"/>
                <a:sym typeface="Canva Sans"/>
              </a:rPr>
              <a:t>Variance (uncertainty)</a:t>
            </a:r>
          </a:p>
          <a:p>
            <a:pPr algn="l">
              <a:lnSpc>
                <a:spcPts val="3930"/>
              </a:lnSpc>
            </a:pPr>
          </a:p>
        </p:txBody>
      </p:sp>
      <p:pic>
        <p:nvPicPr>
          <p:cNvPr name="Picture 20" id="20"/>
          <p:cNvPicPr>
            <a:picLocks noChangeAspect="true"/>
          </p:cNvPicPr>
          <p:nvPr/>
        </p:nvPicPr>
        <p:blipFill>
          <a:blip r:embed="rId8"/>
          <a:stretch>
            <a:fillRect/>
          </a:stretch>
        </p:blipFill>
        <p:spPr>
          <a:xfrm rot="0">
            <a:off x="7383647" y="3858887"/>
            <a:ext cx="3520708" cy="933397"/>
          </a:xfrm>
          <a:prstGeom prst="rect">
            <a:avLst/>
          </a:prstGeom>
        </p:spPr>
      </p:pic>
      <p:pic>
        <p:nvPicPr>
          <p:cNvPr name="Picture 21" id="21"/>
          <p:cNvPicPr>
            <a:picLocks noChangeAspect="true"/>
          </p:cNvPicPr>
          <p:nvPr/>
        </p:nvPicPr>
        <p:blipFill>
          <a:blip r:embed="rId9"/>
          <a:stretch>
            <a:fillRect/>
          </a:stretch>
        </p:blipFill>
        <p:spPr>
          <a:xfrm rot="0">
            <a:off x="12725324" y="3759440"/>
            <a:ext cx="310806" cy="272818"/>
          </a:xfrm>
          <a:prstGeom prst="rect">
            <a:avLst/>
          </a:prstGeom>
        </p:spPr>
      </p:pic>
      <p:pic>
        <p:nvPicPr>
          <p:cNvPr name="Picture 22" id="22"/>
          <p:cNvPicPr>
            <a:picLocks noChangeAspect="true"/>
          </p:cNvPicPr>
          <p:nvPr/>
        </p:nvPicPr>
        <p:blipFill>
          <a:blip r:embed="rId10"/>
          <a:stretch>
            <a:fillRect/>
          </a:stretch>
        </p:blipFill>
        <p:spPr>
          <a:xfrm rot="0">
            <a:off x="12716394" y="5166946"/>
            <a:ext cx="800478" cy="507549"/>
          </a:xfrm>
          <a:prstGeom prst="rect">
            <a:avLst/>
          </a:prstGeom>
        </p:spPr>
      </p:pic>
      <p:pic>
        <p:nvPicPr>
          <p:cNvPr name="Picture 23" id="23"/>
          <p:cNvPicPr>
            <a:picLocks noChangeAspect="true"/>
          </p:cNvPicPr>
          <p:nvPr/>
        </p:nvPicPr>
        <p:blipFill>
          <a:blip r:embed="rId11"/>
          <a:stretch>
            <a:fillRect/>
          </a:stretch>
        </p:blipFill>
        <p:spPr>
          <a:xfrm rot="0">
            <a:off x="12751730" y="5741012"/>
            <a:ext cx="267859" cy="376451"/>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5533369" y="467188"/>
            <a:ext cx="7471925" cy="1068671"/>
            <a:chOff x="0" y="0"/>
            <a:chExt cx="9962567" cy="1424895"/>
          </a:xfrm>
        </p:grpSpPr>
        <p:sp>
          <p:nvSpPr>
            <p:cNvPr name="Freeform 11" id="11"/>
            <p:cNvSpPr/>
            <p:nvPr/>
          </p:nvSpPr>
          <p:spPr>
            <a:xfrm flipH="false" flipV="false" rot="0">
              <a:off x="0" y="0"/>
              <a:ext cx="9962567" cy="1424896"/>
            </a:xfrm>
            <a:custGeom>
              <a:avLst/>
              <a:gdLst/>
              <a:ahLst/>
              <a:cxnLst/>
              <a:rect r="r" b="b" t="t" l="l"/>
              <a:pathLst>
                <a:path h="1424896" w="9962567">
                  <a:moveTo>
                    <a:pt x="0" y="0"/>
                  </a:moveTo>
                  <a:lnTo>
                    <a:pt x="9962567" y="0"/>
                  </a:lnTo>
                  <a:lnTo>
                    <a:pt x="9962567" y="1424896"/>
                  </a:lnTo>
                  <a:lnTo>
                    <a:pt x="0" y="1424896"/>
                  </a:lnTo>
                  <a:close/>
                </a:path>
              </a:pathLst>
            </a:custGeom>
            <a:blipFill>
              <a:blip r:embed="rId4">
                <a:alphaModFix amt="0"/>
              </a:blip>
              <a:stretch>
                <a:fillRect l="0" t="-194566" r="-111102" b="-280624"/>
              </a:stretch>
            </a:blipFill>
          </p:spPr>
        </p:sp>
        <p:sp>
          <p:nvSpPr>
            <p:cNvPr name="TextBox 12" id="12"/>
            <p:cNvSpPr txBox="true"/>
            <p:nvPr/>
          </p:nvSpPr>
          <p:spPr>
            <a:xfrm>
              <a:off x="0" y="47625"/>
              <a:ext cx="9962567"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Bounds Used in the Problem</a:t>
              </a:r>
            </a:p>
          </p:txBody>
        </p:sp>
      </p:grpSp>
      <p:sp>
        <p:nvSpPr>
          <p:cNvPr name="TextBox 13" id="13"/>
          <p:cNvSpPr txBox="true"/>
          <p:nvPr/>
        </p:nvSpPr>
        <p:spPr>
          <a:xfrm rot="0">
            <a:off x="5389884" y="1835995"/>
            <a:ext cx="7758894" cy="361950"/>
          </a:xfrm>
          <a:prstGeom prst="rect">
            <a:avLst/>
          </a:prstGeom>
        </p:spPr>
        <p:txBody>
          <a:bodyPr anchor="t" rtlCol="false" tIns="0" lIns="0" bIns="0" rIns="0">
            <a:spAutoFit/>
          </a:bodyPr>
          <a:lstStyle/>
          <a:p>
            <a:pPr algn="l">
              <a:lnSpc>
                <a:spcPts val="2700"/>
              </a:lnSpc>
            </a:pPr>
            <a:r>
              <a:rPr lang="en-US" sz="2500" b="true">
                <a:solidFill>
                  <a:srgbClr val="000000"/>
                </a:solidFill>
                <a:latin typeface="Canva Sans Bold"/>
                <a:ea typeface="Canva Sans Bold"/>
                <a:cs typeface="Canva Sans Bold"/>
                <a:sym typeface="Canva Sans Bold"/>
              </a:rPr>
              <a:t>Hoeffding Inequality:</a:t>
            </a:r>
          </a:p>
        </p:txBody>
      </p:sp>
      <p:pic>
        <p:nvPicPr>
          <p:cNvPr name="Picture 14" id="14"/>
          <p:cNvPicPr>
            <a:picLocks noChangeAspect="true"/>
          </p:cNvPicPr>
          <p:nvPr/>
        </p:nvPicPr>
        <p:blipFill>
          <a:blip r:embed="rId5"/>
          <a:stretch>
            <a:fillRect/>
          </a:stretch>
        </p:blipFill>
        <p:spPr>
          <a:xfrm rot="0">
            <a:off x="8448018" y="1295197"/>
            <a:ext cx="6260982" cy="1496202"/>
          </a:xfrm>
          <a:prstGeom prst="rect">
            <a:avLst/>
          </a:prstGeom>
        </p:spPr>
      </p:pic>
      <p:grpSp>
        <p:nvGrpSpPr>
          <p:cNvPr name="Group 15" id="15"/>
          <p:cNvGrpSpPr/>
          <p:nvPr/>
        </p:nvGrpSpPr>
        <p:grpSpPr>
          <a:xfrm rot="0">
            <a:off x="7302294" y="2756415"/>
            <a:ext cx="3683413" cy="6157628"/>
            <a:chOff x="0" y="0"/>
            <a:chExt cx="4911217" cy="8210171"/>
          </a:xfrm>
        </p:grpSpPr>
        <p:grpSp>
          <p:nvGrpSpPr>
            <p:cNvPr name="Group 16" id="16"/>
            <p:cNvGrpSpPr/>
            <p:nvPr/>
          </p:nvGrpSpPr>
          <p:grpSpPr>
            <a:xfrm rot="0">
              <a:off x="0" y="0"/>
              <a:ext cx="4911217" cy="8210171"/>
              <a:chOff x="0" y="0"/>
              <a:chExt cx="970117" cy="1621762"/>
            </a:xfrm>
          </p:grpSpPr>
          <p:sp>
            <p:nvSpPr>
              <p:cNvPr name="Freeform 17" id="17"/>
              <p:cNvSpPr/>
              <p:nvPr/>
            </p:nvSpPr>
            <p:spPr>
              <a:xfrm flipH="false" flipV="false" rot="0">
                <a:off x="0" y="0"/>
                <a:ext cx="970117" cy="1621762"/>
              </a:xfrm>
              <a:custGeom>
                <a:avLst/>
                <a:gdLst/>
                <a:ahLst/>
                <a:cxnLst/>
                <a:rect r="r" b="b" t="t" l="l"/>
                <a:pathLst>
                  <a:path h="1621762" w="970117">
                    <a:moveTo>
                      <a:pt x="0" y="0"/>
                    </a:moveTo>
                    <a:lnTo>
                      <a:pt x="970117" y="0"/>
                    </a:lnTo>
                    <a:lnTo>
                      <a:pt x="970117" y="1621762"/>
                    </a:lnTo>
                    <a:lnTo>
                      <a:pt x="0" y="1621762"/>
                    </a:lnTo>
                    <a:close/>
                  </a:path>
                </a:pathLst>
              </a:custGeom>
              <a:solidFill>
                <a:srgbClr val="F2F1EE"/>
              </a:solidFill>
              <a:ln w="38100" cap="sq">
                <a:solidFill>
                  <a:srgbClr val="7D1916"/>
                </a:solidFill>
                <a:prstDash val="solid"/>
                <a:miter/>
              </a:ln>
            </p:spPr>
          </p:sp>
          <p:sp>
            <p:nvSpPr>
              <p:cNvPr name="TextBox 18" id="18"/>
              <p:cNvSpPr txBox="true"/>
              <p:nvPr/>
            </p:nvSpPr>
            <p:spPr>
              <a:xfrm>
                <a:off x="0" y="19050"/>
                <a:ext cx="970117" cy="1602712"/>
              </a:xfrm>
              <a:prstGeom prst="rect">
                <a:avLst/>
              </a:prstGeom>
            </p:spPr>
            <p:txBody>
              <a:bodyPr anchor="ctr" rtlCol="false" tIns="50800" lIns="50800" bIns="50800" rIns="50800"/>
              <a:lstStyle/>
              <a:p>
                <a:pPr algn="ctr">
                  <a:lnSpc>
                    <a:spcPts val="2700"/>
                  </a:lnSpc>
                </a:pPr>
              </a:p>
            </p:txBody>
          </p:sp>
        </p:grpSp>
        <p:sp>
          <p:nvSpPr>
            <p:cNvPr name="TextBox 19" id="19"/>
            <p:cNvSpPr txBox="true"/>
            <p:nvPr/>
          </p:nvSpPr>
          <p:spPr>
            <a:xfrm rot="0">
              <a:off x="410979" y="209550"/>
              <a:ext cx="4082932" cy="1377948"/>
            </a:xfrm>
            <a:prstGeom prst="rect">
              <a:avLst/>
            </a:prstGeom>
          </p:spPr>
          <p:txBody>
            <a:bodyPr anchor="t" rtlCol="false" tIns="0" lIns="0" bIns="0" rIns="0">
              <a:spAutoFit/>
            </a:bodyPr>
            <a:lstStyle/>
            <a:p>
              <a:pPr algn="ctr">
                <a:lnSpc>
                  <a:spcPts val="4200"/>
                </a:lnSpc>
              </a:pPr>
              <a:r>
                <a:rPr lang="en-US" sz="3000" b="true">
                  <a:solidFill>
                    <a:srgbClr val="7D1916"/>
                  </a:solidFill>
                  <a:latin typeface="Canva Sans Bold"/>
                  <a:ea typeface="Canva Sans Bold"/>
                  <a:cs typeface="Canva Sans Bold"/>
                  <a:sym typeface="Canva Sans Bold"/>
                </a:rPr>
                <a:t>How is it used in our project?</a:t>
              </a:r>
            </a:p>
          </p:txBody>
        </p:sp>
        <p:sp>
          <p:nvSpPr>
            <p:cNvPr name="AutoShape 20" id="20"/>
            <p:cNvSpPr/>
            <p:nvPr/>
          </p:nvSpPr>
          <p:spPr>
            <a:xfrm>
              <a:off x="59516" y="1803398"/>
              <a:ext cx="4785859" cy="0"/>
            </a:xfrm>
            <a:prstGeom prst="line">
              <a:avLst/>
            </a:prstGeom>
            <a:ln cap="flat" w="50800">
              <a:solidFill>
                <a:srgbClr val="7D1916"/>
              </a:solidFill>
              <a:prstDash val="solid"/>
              <a:headEnd type="none" len="sm" w="sm"/>
              <a:tailEnd type="none" len="sm" w="sm"/>
            </a:ln>
          </p:spPr>
        </p:sp>
      </p:grpSp>
      <p:grpSp>
        <p:nvGrpSpPr>
          <p:cNvPr name="Group 21" id="21"/>
          <p:cNvGrpSpPr/>
          <p:nvPr/>
        </p:nvGrpSpPr>
        <p:grpSpPr>
          <a:xfrm rot="0">
            <a:off x="12014406" y="2756415"/>
            <a:ext cx="3683413" cy="6157628"/>
            <a:chOff x="0" y="0"/>
            <a:chExt cx="4911217" cy="8210171"/>
          </a:xfrm>
        </p:grpSpPr>
        <p:grpSp>
          <p:nvGrpSpPr>
            <p:cNvPr name="Group 22" id="22"/>
            <p:cNvGrpSpPr/>
            <p:nvPr/>
          </p:nvGrpSpPr>
          <p:grpSpPr>
            <a:xfrm rot="0">
              <a:off x="0" y="0"/>
              <a:ext cx="4911217" cy="8210171"/>
              <a:chOff x="0" y="0"/>
              <a:chExt cx="970117" cy="1621762"/>
            </a:xfrm>
          </p:grpSpPr>
          <p:sp>
            <p:nvSpPr>
              <p:cNvPr name="Freeform 23" id="23"/>
              <p:cNvSpPr/>
              <p:nvPr/>
            </p:nvSpPr>
            <p:spPr>
              <a:xfrm flipH="false" flipV="false" rot="0">
                <a:off x="0" y="0"/>
                <a:ext cx="970117" cy="1621762"/>
              </a:xfrm>
              <a:custGeom>
                <a:avLst/>
                <a:gdLst/>
                <a:ahLst/>
                <a:cxnLst/>
                <a:rect r="r" b="b" t="t" l="l"/>
                <a:pathLst>
                  <a:path h="1621762" w="970117">
                    <a:moveTo>
                      <a:pt x="0" y="0"/>
                    </a:moveTo>
                    <a:lnTo>
                      <a:pt x="970117" y="0"/>
                    </a:lnTo>
                    <a:lnTo>
                      <a:pt x="970117" y="1621762"/>
                    </a:lnTo>
                    <a:lnTo>
                      <a:pt x="0" y="1621762"/>
                    </a:lnTo>
                    <a:close/>
                  </a:path>
                </a:pathLst>
              </a:custGeom>
              <a:solidFill>
                <a:srgbClr val="F2F1EE"/>
              </a:solidFill>
              <a:ln w="38100" cap="sq">
                <a:solidFill>
                  <a:srgbClr val="7D1916"/>
                </a:solidFill>
                <a:prstDash val="solid"/>
                <a:miter/>
              </a:ln>
            </p:spPr>
          </p:sp>
          <p:sp>
            <p:nvSpPr>
              <p:cNvPr name="TextBox 24" id="24"/>
              <p:cNvSpPr txBox="true"/>
              <p:nvPr/>
            </p:nvSpPr>
            <p:spPr>
              <a:xfrm>
                <a:off x="0" y="19050"/>
                <a:ext cx="970117" cy="1602712"/>
              </a:xfrm>
              <a:prstGeom prst="rect">
                <a:avLst/>
              </a:prstGeom>
            </p:spPr>
            <p:txBody>
              <a:bodyPr anchor="ctr" rtlCol="false" tIns="50800" lIns="50800" bIns="50800" rIns="50800"/>
              <a:lstStyle/>
              <a:p>
                <a:pPr algn="ctr">
                  <a:lnSpc>
                    <a:spcPts val="2700"/>
                  </a:lnSpc>
                </a:pPr>
              </a:p>
            </p:txBody>
          </p:sp>
        </p:grpSp>
        <p:sp>
          <p:nvSpPr>
            <p:cNvPr name="TextBox 25" id="25"/>
            <p:cNvSpPr txBox="true"/>
            <p:nvPr/>
          </p:nvSpPr>
          <p:spPr>
            <a:xfrm rot="0">
              <a:off x="1024970" y="209550"/>
              <a:ext cx="2861277" cy="1377948"/>
            </a:xfrm>
            <a:prstGeom prst="rect">
              <a:avLst/>
            </a:prstGeom>
          </p:spPr>
          <p:txBody>
            <a:bodyPr anchor="t" rtlCol="false" tIns="0" lIns="0" bIns="0" rIns="0">
              <a:spAutoFit/>
            </a:bodyPr>
            <a:lstStyle/>
            <a:p>
              <a:pPr algn="ctr">
                <a:lnSpc>
                  <a:spcPts val="4200"/>
                </a:lnSpc>
              </a:pPr>
              <a:r>
                <a:rPr lang="en-US" sz="3000" b="true">
                  <a:solidFill>
                    <a:srgbClr val="7D1916"/>
                  </a:solidFill>
                  <a:latin typeface="Canva Sans Bold"/>
                  <a:ea typeface="Canva Sans Bold"/>
                  <a:cs typeface="Canva Sans Bold"/>
                  <a:sym typeface="Canva Sans Bold"/>
                </a:rPr>
                <a:t>Why is it necessary?</a:t>
              </a:r>
            </a:p>
          </p:txBody>
        </p:sp>
        <p:sp>
          <p:nvSpPr>
            <p:cNvPr name="AutoShape 26" id="26"/>
            <p:cNvSpPr/>
            <p:nvPr/>
          </p:nvSpPr>
          <p:spPr>
            <a:xfrm>
              <a:off x="0" y="1803398"/>
              <a:ext cx="4858381" cy="0"/>
            </a:xfrm>
            <a:prstGeom prst="line">
              <a:avLst/>
            </a:prstGeom>
            <a:ln cap="flat" w="50800">
              <a:solidFill>
                <a:srgbClr val="7D1916"/>
              </a:solidFill>
              <a:prstDash val="solid"/>
              <a:headEnd type="none" len="sm" w="sm"/>
              <a:tailEnd type="none" len="sm" w="sm"/>
            </a:ln>
          </p:spPr>
        </p:sp>
      </p:grpSp>
      <p:grpSp>
        <p:nvGrpSpPr>
          <p:cNvPr name="Group 27" id="27"/>
          <p:cNvGrpSpPr/>
          <p:nvPr/>
        </p:nvGrpSpPr>
        <p:grpSpPr>
          <a:xfrm rot="0">
            <a:off x="2586942" y="2756415"/>
            <a:ext cx="3683413" cy="6157628"/>
            <a:chOff x="0" y="0"/>
            <a:chExt cx="4911217" cy="8210171"/>
          </a:xfrm>
        </p:grpSpPr>
        <p:grpSp>
          <p:nvGrpSpPr>
            <p:cNvPr name="Group 28" id="28"/>
            <p:cNvGrpSpPr/>
            <p:nvPr/>
          </p:nvGrpSpPr>
          <p:grpSpPr>
            <a:xfrm rot="0">
              <a:off x="0" y="0"/>
              <a:ext cx="4911217" cy="8210171"/>
              <a:chOff x="0" y="0"/>
              <a:chExt cx="970117" cy="1621762"/>
            </a:xfrm>
          </p:grpSpPr>
          <p:sp>
            <p:nvSpPr>
              <p:cNvPr name="Freeform 29" id="29"/>
              <p:cNvSpPr/>
              <p:nvPr/>
            </p:nvSpPr>
            <p:spPr>
              <a:xfrm flipH="false" flipV="false" rot="0">
                <a:off x="0" y="0"/>
                <a:ext cx="970117" cy="1621762"/>
              </a:xfrm>
              <a:custGeom>
                <a:avLst/>
                <a:gdLst/>
                <a:ahLst/>
                <a:cxnLst/>
                <a:rect r="r" b="b" t="t" l="l"/>
                <a:pathLst>
                  <a:path h="1621762" w="970117">
                    <a:moveTo>
                      <a:pt x="0" y="0"/>
                    </a:moveTo>
                    <a:lnTo>
                      <a:pt x="970117" y="0"/>
                    </a:lnTo>
                    <a:lnTo>
                      <a:pt x="970117" y="1621762"/>
                    </a:lnTo>
                    <a:lnTo>
                      <a:pt x="0" y="1621762"/>
                    </a:lnTo>
                    <a:close/>
                  </a:path>
                </a:pathLst>
              </a:custGeom>
              <a:solidFill>
                <a:srgbClr val="F2F1EE"/>
              </a:solidFill>
              <a:ln w="38100" cap="sq">
                <a:solidFill>
                  <a:srgbClr val="7D1916"/>
                </a:solidFill>
                <a:prstDash val="solid"/>
                <a:miter/>
              </a:ln>
            </p:spPr>
          </p:sp>
          <p:sp>
            <p:nvSpPr>
              <p:cNvPr name="TextBox 30" id="30"/>
              <p:cNvSpPr txBox="true"/>
              <p:nvPr/>
            </p:nvSpPr>
            <p:spPr>
              <a:xfrm>
                <a:off x="0" y="19050"/>
                <a:ext cx="970117" cy="1602712"/>
              </a:xfrm>
              <a:prstGeom prst="rect">
                <a:avLst/>
              </a:prstGeom>
            </p:spPr>
            <p:txBody>
              <a:bodyPr anchor="ctr" rtlCol="false" tIns="50800" lIns="50800" bIns="50800" rIns="50800"/>
              <a:lstStyle/>
              <a:p>
                <a:pPr algn="ctr">
                  <a:lnSpc>
                    <a:spcPts val="2700"/>
                  </a:lnSpc>
                </a:pPr>
              </a:p>
            </p:txBody>
          </p:sp>
        </p:grpSp>
        <p:sp>
          <p:nvSpPr>
            <p:cNvPr name="TextBox 31" id="31"/>
            <p:cNvSpPr txBox="true"/>
            <p:nvPr/>
          </p:nvSpPr>
          <p:spPr>
            <a:xfrm rot="0">
              <a:off x="568071" y="209550"/>
              <a:ext cx="3775075" cy="666748"/>
            </a:xfrm>
            <a:prstGeom prst="rect">
              <a:avLst/>
            </a:prstGeom>
          </p:spPr>
          <p:txBody>
            <a:bodyPr anchor="t" rtlCol="false" tIns="0" lIns="0" bIns="0" rIns="0">
              <a:spAutoFit/>
            </a:bodyPr>
            <a:lstStyle/>
            <a:p>
              <a:pPr algn="ctr">
                <a:lnSpc>
                  <a:spcPts val="4200"/>
                </a:lnSpc>
              </a:pPr>
              <a:r>
                <a:rPr lang="en-US" b="true" sz="3000">
                  <a:solidFill>
                    <a:srgbClr val="7D1916"/>
                  </a:solidFill>
                  <a:latin typeface="Canva Sans Bold"/>
                  <a:ea typeface="Canva Sans Bold"/>
                  <a:cs typeface="Canva Sans Bold"/>
                  <a:sym typeface="Canva Sans Bold"/>
                </a:rPr>
                <a:t>What it means?</a:t>
              </a:r>
            </a:p>
          </p:txBody>
        </p:sp>
        <p:sp>
          <p:nvSpPr>
            <p:cNvPr name="AutoShape 32" id="32"/>
            <p:cNvSpPr/>
            <p:nvPr/>
          </p:nvSpPr>
          <p:spPr>
            <a:xfrm>
              <a:off x="0" y="1777998"/>
              <a:ext cx="4832275" cy="0"/>
            </a:xfrm>
            <a:prstGeom prst="line">
              <a:avLst/>
            </a:prstGeom>
            <a:ln cap="flat" w="50800">
              <a:solidFill>
                <a:srgbClr val="7D1916"/>
              </a:solidFill>
              <a:prstDash val="solid"/>
              <a:headEnd type="none" len="sm" w="sm"/>
              <a:tailEnd type="none" len="sm" w="sm"/>
            </a:ln>
          </p:spPr>
        </p:sp>
      </p:grpSp>
      <p:sp>
        <p:nvSpPr>
          <p:cNvPr name="TextBox 33" id="33"/>
          <p:cNvSpPr txBox="true"/>
          <p:nvPr/>
        </p:nvSpPr>
        <p:spPr>
          <a:xfrm rot="0">
            <a:off x="2641476" y="4345746"/>
            <a:ext cx="3574345" cy="4111624"/>
          </a:xfrm>
          <a:prstGeom prst="rect">
            <a:avLst/>
          </a:prstGeom>
        </p:spPr>
        <p:txBody>
          <a:bodyPr anchor="t" rtlCol="false" tIns="0" lIns="0" bIns="0" rIns="0">
            <a:spAutoFit/>
          </a:bodyPr>
          <a:lstStyle/>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Bounds the probability  of deviation between:</a:t>
            </a:r>
          </a:p>
          <a:p>
            <a:pPr algn="l" marL="777256" indent="-259085" lvl="2">
              <a:lnSpc>
                <a:spcPts val="2520"/>
              </a:lnSpc>
              <a:buFont typeface="Arial"/>
              <a:buChar char="⚬"/>
            </a:pPr>
            <a:r>
              <a:rPr lang="en-US" sz="1800">
                <a:solidFill>
                  <a:srgbClr val="000000"/>
                </a:solidFill>
                <a:latin typeface="Canva Sans"/>
                <a:ea typeface="Canva Sans"/>
                <a:cs typeface="Canva Sans"/>
                <a:sym typeface="Canva Sans"/>
              </a:rPr>
              <a:t>Estimated Probability</a:t>
            </a:r>
          </a:p>
          <a:p>
            <a:pPr algn="l" marL="777256" indent="-259085" lvl="2">
              <a:lnSpc>
                <a:spcPts val="2520"/>
              </a:lnSpc>
              <a:buFont typeface="Arial"/>
              <a:buChar char="⚬"/>
            </a:pPr>
            <a:r>
              <a:rPr lang="en-US" sz="1800">
                <a:solidFill>
                  <a:srgbClr val="000000"/>
                </a:solidFill>
                <a:latin typeface="Canva Sans"/>
                <a:ea typeface="Canva Sans"/>
                <a:cs typeface="Canva Sans"/>
                <a:sym typeface="Canva Sans"/>
              </a:rPr>
              <a:t>True Probability</a:t>
            </a:r>
          </a:p>
          <a:p>
            <a:pPr algn="l">
              <a:lnSpc>
                <a:spcPts val="252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Works for independent bounded random variables</a:t>
            </a:r>
          </a:p>
          <a:p>
            <a:pPr algn="l">
              <a:lnSpc>
                <a:spcPts val="280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Ensures concentration   of estimate around true value</a:t>
            </a:r>
          </a:p>
        </p:txBody>
      </p:sp>
      <p:pic>
        <p:nvPicPr>
          <p:cNvPr name="Picture 34" id="34"/>
          <p:cNvPicPr>
            <a:picLocks noChangeAspect="true"/>
          </p:cNvPicPr>
          <p:nvPr/>
        </p:nvPicPr>
        <p:blipFill>
          <a:blip r:embed="rId6"/>
          <a:stretch>
            <a:fillRect/>
          </a:stretch>
        </p:blipFill>
        <p:spPr>
          <a:xfrm rot="0">
            <a:off x="5227266" y="5468830"/>
            <a:ext cx="180818" cy="218407"/>
          </a:xfrm>
          <a:prstGeom prst="rect">
            <a:avLst/>
          </a:prstGeom>
        </p:spPr>
      </p:pic>
      <p:pic>
        <p:nvPicPr>
          <p:cNvPr name="Picture 35" id="35"/>
          <p:cNvPicPr>
            <a:picLocks noChangeAspect="true"/>
          </p:cNvPicPr>
          <p:nvPr/>
        </p:nvPicPr>
        <p:blipFill>
          <a:blip r:embed="rId7"/>
          <a:stretch>
            <a:fillRect/>
          </a:stretch>
        </p:blipFill>
        <p:spPr>
          <a:xfrm rot="0">
            <a:off x="5809612" y="5050515"/>
            <a:ext cx="201926" cy="344462"/>
          </a:xfrm>
          <a:prstGeom prst="rect">
            <a:avLst/>
          </a:prstGeom>
        </p:spPr>
      </p:pic>
      <p:sp>
        <p:nvSpPr>
          <p:cNvPr name="TextBox 36" id="36"/>
          <p:cNvSpPr txBox="true"/>
          <p:nvPr/>
        </p:nvSpPr>
        <p:spPr>
          <a:xfrm rot="0">
            <a:off x="7356828" y="4345746"/>
            <a:ext cx="3574345" cy="3168649"/>
          </a:xfrm>
          <a:prstGeom prst="rect">
            <a:avLst/>
          </a:prstGeom>
        </p:spPr>
        <p:txBody>
          <a:bodyPr anchor="t" rtlCol="false" tIns="0" lIns="0" bIns="0" rIns="0">
            <a:spAutoFit/>
          </a:bodyPr>
          <a:lstStyle/>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Applied to ensemble simulation outputs</a:t>
            </a:r>
          </a:p>
          <a:p>
            <a:pPr algn="l">
              <a:lnSpc>
                <a:spcPts val="280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Each simulation treated as a random sample</a:t>
            </a:r>
          </a:p>
          <a:p>
            <a:pPr algn="l">
              <a:lnSpc>
                <a:spcPts val="280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Used to bound error in extreme event probability estimation</a:t>
            </a:r>
          </a:p>
        </p:txBody>
      </p:sp>
      <p:sp>
        <p:nvSpPr>
          <p:cNvPr name="TextBox 37" id="37"/>
          <p:cNvSpPr txBox="true"/>
          <p:nvPr/>
        </p:nvSpPr>
        <p:spPr>
          <a:xfrm rot="0">
            <a:off x="12014406" y="4345746"/>
            <a:ext cx="3574345" cy="4225924"/>
          </a:xfrm>
          <a:prstGeom prst="rect">
            <a:avLst/>
          </a:prstGeom>
        </p:spPr>
        <p:txBody>
          <a:bodyPr anchor="t" rtlCol="false" tIns="0" lIns="0" bIns="0" rIns="0">
            <a:spAutoFit/>
          </a:bodyPr>
          <a:lstStyle/>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Simulation results are random - need reliability</a:t>
            </a:r>
          </a:p>
          <a:p>
            <a:pPr algn="l">
              <a:lnSpc>
                <a:spcPts val="280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Provides confidence in estimated probabilities</a:t>
            </a:r>
          </a:p>
          <a:p>
            <a:pPr algn="l">
              <a:lnSpc>
                <a:spcPts val="280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Prevents over-reliance  on a single simulation outcome</a:t>
            </a:r>
          </a:p>
          <a:p>
            <a:pPr algn="l">
              <a:lnSpc>
                <a:spcPts val="2800"/>
              </a:lnSpc>
            </a:pPr>
          </a:p>
          <a:p>
            <a:pPr algn="l" marL="431807" indent="-215904" lvl="1">
              <a:lnSpc>
                <a:spcPts val="2800"/>
              </a:lnSpc>
              <a:buFont typeface="Arial"/>
              <a:buChar char="•"/>
            </a:pPr>
            <a:r>
              <a:rPr lang="en-US" sz="2000">
                <a:solidFill>
                  <a:srgbClr val="000000"/>
                </a:solidFill>
                <a:latin typeface="Canva Sans"/>
                <a:ea typeface="Canva Sans"/>
                <a:cs typeface="Canva Sans"/>
                <a:sym typeface="Canva Sans"/>
              </a:rPr>
              <a:t>Converts randomness - controlled uncertainty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015761" y="467188"/>
            <a:ext cx="6256477" cy="1068671"/>
            <a:chOff x="0" y="0"/>
            <a:chExt cx="8341969" cy="1424895"/>
          </a:xfrm>
        </p:grpSpPr>
        <p:sp>
          <p:nvSpPr>
            <p:cNvPr name="Freeform 11" id="11"/>
            <p:cNvSpPr/>
            <p:nvPr/>
          </p:nvSpPr>
          <p:spPr>
            <a:xfrm flipH="false" flipV="false" rot="0">
              <a:off x="0" y="0"/>
              <a:ext cx="8341969" cy="1424896"/>
            </a:xfrm>
            <a:custGeom>
              <a:avLst/>
              <a:gdLst/>
              <a:ahLst/>
              <a:cxnLst/>
              <a:rect r="r" b="b" t="t" l="l"/>
              <a:pathLst>
                <a:path h="1424896" w="8341969">
                  <a:moveTo>
                    <a:pt x="0" y="0"/>
                  </a:moveTo>
                  <a:lnTo>
                    <a:pt x="8341969" y="0"/>
                  </a:lnTo>
                  <a:lnTo>
                    <a:pt x="8341969" y="1424896"/>
                  </a:lnTo>
                  <a:lnTo>
                    <a:pt x="0" y="1424896"/>
                  </a:lnTo>
                  <a:close/>
                </a:path>
              </a:pathLst>
            </a:custGeom>
            <a:blipFill>
              <a:blip r:embed="rId4">
                <a:alphaModFix amt="0"/>
              </a:blip>
              <a:stretch>
                <a:fillRect l="0" t="-194566" r="-152113" b="-280624"/>
              </a:stretch>
            </a:blipFill>
          </p:spPr>
        </p:sp>
        <p:sp>
          <p:nvSpPr>
            <p:cNvPr name="TextBox 12" id="12"/>
            <p:cNvSpPr txBox="true"/>
            <p:nvPr/>
          </p:nvSpPr>
          <p:spPr>
            <a:xfrm>
              <a:off x="0" y="47625"/>
              <a:ext cx="8341969"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Deterministic Approach</a:t>
              </a:r>
            </a:p>
          </p:txBody>
        </p:sp>
      </p:grpSp>
      <p:sp>
        <p:nvSpPr>
          <p:cNvPr name="Freeform 13" id="13"/>
          <p:cNvSpPr/>
          <p:nvPr/>
        </p:nvSpPr>
        <p:spPr>
          <a:xfrm flipH="false" flipV="false" rot="0">
            <a:off x="8772465" y="3934372"/>
            <a:ext cx="9287688" cy="3301907"/>
          </a:xfrm>
          <a:custGeom>
            <a:avLst/>
            <a:gdLst/>
            <a:ahLst/>
            <a:cxnLst/>
            <a:rect r="r" b="b" t="t" l="l"/>
            <a:pathLst>
              <a:path h="3301907" w="9287688">
                <a:moveTo>
                  <a:pt x="0" y="0"/>
                </a:moveTo>
                <a:lnTo>
                  <a:pt x="9287688" y="0"/>
                </a:lnTo>
                <a:lnTo>
                  <a:pt x="9287688" y="3301907"/>
                </a:lnTo>
                <a:lnTo>
                  <a:pt x="0" y="3301907"/>
                </a:lnTo>
                <a:lnTo>
                  <a:pt x="0" y="0"/>
                </a:lnTo>
                <a:close/>
              </a:path>
            </a:pathLst>
          </a:custGeom>
          <a:blipFill>
            <a:blip r:embed="rId5"/>
            <a:stretch>
              <a:fillRect l="0" t="-46" r="-1308" b="-46"/>
            </a:stretch>
          </a:blipFill>
        </p:spPr>
      </p:sp>
      <p:sp>
        <p:nvSpPr>
          <p:cNvPr name="TextBox 14" id="14"/>
          <p:cNvSpPr txBox="true"/>
          <p:nvPr/>
        </p:nvSpPr>
        <p:spPr>
          <a:xfrm rot="0">
            <a:off x="1961762" y="2017832"/>
            <a:ext cx="6938606" cy="7145363"/>
          </a:xfrm>
          <a:prstGeom prst="rect">
            <a:avLst/>
          </a:prstGeom>
        </p:spPr>
        <p:txBody>
          <a:bodyPr anchor="t" rtlCol="false" tIns="0" lIns="0" bIns="0" rIns="0">
            <a:spAutoFit/>
          </a:bodyPr>
          <a:lstStyle/>
          <a:p>
            <a:pPr algn="l">
              <a:lnSpc>
                <a:spcPts val="3393"/>
              </a:lnSpc>
            </a:pPr>
            <a:r>
              <a:rPr lang="en-US" sz="2900" b="true">
                <a:solidFill>
                  <a:srgbClr val="000000"/>
                </a:solidFill>
                <a:latin typeface="Canva Sans Bold"/>
                <a:ea typeface="Canva Sans Bold"/>
                <a:cs typeface="Canva Sans Bold"/>
                <a:sym typeface="Canva Sans Bold"/>
              </a:rPr>
              <a:t>Id</a:t>
            </a:r>
            <a:r>
              <a:rPr lang="en-US" sz="2900" b="true">
                <a:solidFill>
                  <a:srgbClr val="000000"/>
                </a:solidFill>
                <a:latin typeface="Canva Sans Bold"/>
                <a:ea typeface="Canva Sans Bold"/>
                <a:cs typeface="Canva Sans Bold"/>
                <a:sym typeface="Canva Sans Bold"/>
              </a:rPr>
              <a:t>ea:</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One prediction based on fixed input data.</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No modeling of randomness or uncertainty.</a:t>
            </a:r>
          </a:p>
          <a:p>
            <a:pPr algn="l">
              <a:lnSpc>
                <a:spcPts val="2924"/>
              </a:lnSpc>
            </a:pPr>
          </a:p>
          <a:p>
            <a:pPr algn="l">
              <a:lnSpc>
                <a:spcPts val="3393"/>
              </a:lnSpc>
            </a:pPr>
            <a:r>
              <a:rPr lang="en-US" sz="2900" b="true">
                <a:solidFill>
                  <a:srgbClr val="000000"/>
                </a:solidFill>
                <a:latin typeface="Canva Sans Bold"/>
                <a:ea typeface="Canva Sans Bold"/>
                <a:cs typeface="Canva Sans Bold"/>
                <a:sym typeface="Canva Sans Bold"/>
              </a:rPr>
              <a:t>In Our Model (M3):</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Threshold</a:t>
            </a:r>
            <a:r>
              <a:rPr lang="en-US" sz="2499">
                <a:solidFill>
                  <a:srgbClr val="000000"/>
                </a:solidFill>
                <a:latin typeface="Canva Sans"/>
                <a:ea typeface="Canva Sans"/>
                <a:cs typeface="Canva Sans"/>
                <a:sym typeface="Canva Sans"/>
              </a:rPr>
              <a:t>: </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Extreme Event: Y=1 if R&gt;τ</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Logistic Regression: </a:t>
            </a:r>
          </a:p>
          <a:p>
            <a:pPr algn="l">
              <a:lnSpc>
                <a:spcPts val="2924"/>
              </a:lnSpc>
            </a:pPr>
          </a:p>
          <a:p>
            <a:pPr algn="l">
              <a:lnSpc>
                <a:spcPts val="3393"/>
              </a:lnSpc>
            </a:pPr>
            <a:r>
              <a:rPr lang="en-US" sz="2900" b="true">
                <a:solidFill>
                  <a:srgbClr val="000000"/>
                </a:solidFill>
                <a:latin typeface="Canva Sans Bold"/>
                <a:ea typeface="Canva Sans Bold"/>
                <a:cs typeface="Canva Sans Bold"/>
                <a:sym typeface="Canva Sans Bold"/>
              </a:rPr>
              <a:t>Traits:</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Same output every time</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Equal weights (no change)</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Quick and easy to repeat</a:t>
            </a:r>
          </a:p>
          <a:p>
            <a:pPr algn="l">
              <a:lnSpc>
                <a:spcPts val="2924"/>
              </a:lnSpc>
            </a:pPr>
          </a:p>
          <a:p>
            <a:pPr algn="l">
              <a:lnSpc>
                <a:spcPts val="3393"/>
              </a:lnSpc>
            </a:pPr>
            <a:r>
              <a:rPr lang="en-US" sz="2900" b="true">
                <a:solidFill>
                  <a:srgbClr val="000000"/>
                </a:solidFill>
                <a:latin typeface="Canva Sans Bold"/>
                <a:ea typeface="Canva Sans Bold"/>
                <a:cs typeface="Canva Sans Bold"/>
                <a:sym typeface="Canva Sans Bold"/>
              </a:rPr>
              <a:t>Restrictions:</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No representation of uncertainty</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Sensitive to mistakes in input</a:t>
            </a:r>
          </a:p>
          <a:p>
            <a:pPr algn="l" marL="539749" indent="-269875" lvl="1">
              <a:lnSpc>
                <a:spcPts val="2924"/>
              </a:lnSpc>
              <a:buFont typeface="Arial"/>
              <a:buChar char="•"/>
            </a:pPr>
            <a:r>
              <a:rPr lang="en-US" sz="2499">
                <a:solidFill>
                  <a:srgbClr val="000000"/>
                </a:solidFill>
                <a:latin typeface="Canva Sans"/>
                <a:ea typeface="Canva Sans"/>
                <a:cs typeface="Canva Sans"/>
                <a:sym typeface="Canva Sans"/>
              </a:rPr>
              <a:t>Not good for extreme events</a:t>
            </a:r>
          </a:p>
        </p:txBody>
      </p:sp>
      <p:pic>
        <p:nvPicPr>
          <p:cNvPr name="Picture 15" id="15"/>
          <p:cNvPicPr>
            <a:picLocks noChangeAspect="true"/>
          </p:cNvPicPr>
          <p:nvPr/>
        </p:nvPicPr>
        <p:blipFill>
          <a:blip r:embed="rId6"/>
          <a:stretch>
            <a:fillRect/>
          </a:stretch>
        </p:blipFill>
        <p:spPr>
          <a:xfrm rot="0">
            <a:off x="4003223" y="4147840"/>
            <a:ext cx="2393100" cy="731902"/>
          </a:xfrm>
          <a:prstGeom prst="rect">
            <a:avLst/>
          </a:prstGeom>
        </p:spPr>
      </p:pic>
      <p:pic>
        <p:nvPicPr>
          <p:cNvPr name="Picture 16" id="16"/>
          <p:cNvPicPr>
            <a:picLocks noChangeAspect="true"/>
          </p:cNvPicPr>
          <p:nvPr/>
        </p:nvPicPr>
        <p:blipFill>
          <a:blip r:embed="rId7"/>
          <a:stretch>
            <a:fillRect/>
          </a:stretch>
        </p:blipFill>
        <p:spPr>
          <a:xfrm rot="0">
            <a:off x="5272642" y="4735638"/>
            <a:ext cx="3604200" cy="1150463"/>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096520" y="467188"/>
            <a:ext cx="6094961" cy="1068671"/>
            <a:chOff x="0" y="0"/>
            <a:chExt cx="8126614" cy="1424895"/>
          </a:xfrm>
        </p:grpSpPr>
        <p:sp>
          <p:nvSpPr>
            <p:cNvPr name="Freeform 11" id="11"/>
            <p:cNvSpPr/>
            <p:nvPr/>
          </p:nvSpPr>
          <p:spPr>
            <a:xfrm flipH="false" flipV="false" rot="0">
              <a:off x="0" y="0"/>
              <a:ext cx="8126614" cy="1424896"/>
            </a:xfrm>
            <a:custGeom>
              <a:avLst/>
              <a:gdLst/>
              <a:ahLst/>
              <a:cxnLst/>
              <a:rect r="r" b="b" t="t" l="l"/>
              <a:pathLst>
                <a:path h="1424896" w="8126614">
                  <a:moveTo>
                    <a:pt x="0" y="0"/>
                  </a:moveTo>
                  <a:lnTo>
                    <a:pt x="8126614" y="0"/>
                  </a:lnTo>
                  <a:lnTo>
                    <a:pt x="8126614" y="1424896"/>
                  </a:lnTo>
                  <a:lnTo>
                    <a:pt x="0" y="1424896"/>
                  </a:lnTo>
                  <a:close/>
                </a:path>
              </a:pathLst>
            </a:custGeom>
            <a:blipFill>
              <a:blip r:embed="rId4">
                <a:alphaModFix amt="0"/>
              </a:blip>
              <a:stretch>
                <a:fillRect l="0" t="-194566" r="-158794" b="-280624"/>
              </a:stretch>
            </a:blipFill>
          </p:spPr>
        </p:sp>
        <p:sp>
          <p:nvSpPr>
            <p:cNvPr name="TextBox 12" id="12"/>
            <p:cNvSpPr txBox="true"/>
            <p:nvPr/>
          </p:nvSpPr>
          <p:spPr>
            <a:xfrm>
              <a:off x="0" y="47625"/>
              <a:ext cx="8126614"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Randomized Approach</a:t>
              </a:r>
            </a:p>
          </p:txBody>
        </p:sp>
      </p:grpSp>
      <p:sp>
        <p:nvSpPr>
          <p:cNvPr name="TextBox 13" id="13"/>
          <p:cNvSpPr txBox="true"/>
          <p:nvPr/>
        </p:nvSpPr>
        <p:spPr>
          <a:xfrm rot="0">
            <a:off x="1562581" y="1954292"/>
            <a:ext cx="7962615" cy="7514441"/>
          </a:xfrm>
          <a:prstGeom prst="rect">
            <a:avLst/>
          </a:prstGeom>
        </p:spPr>
        <p:txBody>
          <a:bodyPr anchor="t" rtlCol="false" tIns="0" lIns="0" bIns="0" rIns="0">
            <a:spAutoFit/>
          </a:bodyPr>
          <a:lstStyle/>
          <a:p>
            <a:pPr algn="l">
              <a:lnSpc>
                <a:spcPts val="3132"/>
              </a:lnSpc>
            </a:pPr>
            <a:r>
              <a:rPr lang="en-US" sz="2900" b="true">
                <a:solidFill>
                  <a:srgbClr val="000000"/>
                </a:solidFill>
                <a:latin typeface="Canva Sans Bold"/>
                <a:ea typeface="Canva Sans Bold"/>
                <a:cs typeface="Canva Sans Bold"/>
                <a:sym typeface="Canva Sans Bold"/>
              </a:rPr>
              <a:t>Idea:</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Several predictions to model uncertainty</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Each = possible rain scenario</a:t>
            </a:r>
          </a:p>
          <a:p>
            <a:pPr algn="l">
              <a:lnSpc>
                <a:spcPts val="3038"/>
              </a:lnSpc>
            </a:pPr>
          </a:p>
          <a:p>
            <a:pPr algn="l">
              <a:lnSpc>
                <a:spcPts val="3132"/>
              </a:lnSpc>
            </a:pPr>
            <a:r>
              <a:rPr lang="en-US" sz="2900" b="true">
                <a:solidFill>
                  <a:srgbClr val="000000"/>
                </a:solidFill>
                <a:latin typeface="Canva Sans Bold"/>
                <a:ea typeface="Canva Sans Bold"/>
                <a:cs typeface="Canva Sans Bold"/>
                <a:sym typeface="Canva Sans Bold"/>
              </a:rPr>
              <a:t>In Our Model (M4):-</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Ensemble:  </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M = 50 people</a:t>
            </a:r>
          </a:p>
          <a:p>
            <a:pPr algn="l">
              <a:lnSpc>
                <a:spcPts val="3038"/>
              </a:lnSpc>
            </a:pPr>
          </a:p>
          <a:p>
            <a:pPr algn="l">
              <a:lnSpc>
                <a:spcPts val="3132"/>
              </a:lnSpc>
            </a:pPr>
            <a:r>
              <a:rPr lang="en-US" sz="2900" b="true">
                <a:solidFill>
                  <a:srgbClr val="000000"/>
                </a:solidFill>
                <a:latin typeface="Canva Sans Bold"/>
                <a:ea typeface="Canva Sans Bold"/>
                <a:cs typeface="Canva Sans Bold"/>
                <a:sym typeface="Canva Sans Bold"/>
              </a:rPr>
              <a:t>Estimating Probability:-</a:t>
            </a:r>
          </a:p>
          <a:p>
            <a:pPr algn="l">
              <a:lnSpc>
                <a:spcPts val="3038"/>
              </a:lnSpc>
            </a:pPr>
          </a:p>
          <a:p>
            <a:pPr algn="l">
              <a:lnSpc>
                <a:spcPts val="3038"/>
              </a:lnSpc>
            </a:pPr>
          </a:p>
          <a:p>
            <a:pPr algn="l">
              <a:lnSpc>
                <a:spcPts val="3038"/>
              </a:lnSpc>
            </a:pPr>
          </a:p>
          <a:p>
            <a:pPr algn="l">
              <a:lnSpc>
                <a:spcPts val="3132"/>
              </a:lnSpc>
            </a:pPr>
            <a:r>
              <a:rPr lang="en-US" sz="2900" b="true">
                <a:solidFill>
                  <a:srgbClr val="000000"/>
                </a:solidFill>
                <a:latin typeface="Canva Sans Bold"/>
                <a:ea typeface="Canva Sans Bold"/>
                <a:cs typeface="Canva Sans Bold"/>
                <a:sym typeface="Canva Sans Bold"/>
              </a:rPr>
              <a:t>Important Features:-</a:t>
            </a:r>
          </a:p>
          <a:p>
            <a:pPr algn="l">
              <a:lnSpc>
                <a:spcPts val="2699"/>
              </a:lnSpc>
            </a:pPr>
            <a:r>
              <a:rPr lang="en-US" sz="2499">
                <a:solidFill>
                  <a:srgbClr val="000000"/>
                </a:solidFill>
                <a:latin typeface="Canva Sans"/>
                <a:ea typeface="Canva Sans"/>
                <a:cs typeface="Canva Sans"/>
                <a:sym typeface="Canva Sans"/>
              </a:rPr>
              <a:t>It captures</a:t>
            </a:r>
            <a:r>
              <a:rPr lang="en-US" sz="2499">
                <a:solidFill>
                  <a:srgbClr val="000000"/>
                </a:solidFill>
                <a:latin typeface="Canva Sans"/>
                <a:ea typeface="Canva Sans"/>
                <a:cs typeface="Canva Sans"/>
                <a:sym typeface="Canva Sans"/>
              </a:rPr>
              <a:t>:</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Uncertainty at first</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Uncertainty in the model</a:t>
            </a:r>
          </a:p>
          <a:p>
            <a:pPr algn="l">
              <a:lnSpc>
                <a:spcPts val="3038"/>
              </a:lnSpc>
            </a:pPr>
          </a:p>
          <a:p>
            <a:pPr algn="l">
              <a:lnSpc>
                <a:spcPts val="3132"/>
              </a:lnSpc>
            </a:pPr>
            <a:r>
              <a:rPr lang="en-US" sz="2900" b="true">
                <a:solidFill>
                  <a:srgbClr val="000000"/>
                </a:solidFill>
                <a:latin typeface="Canva Sans Bold"/>
                <a:ea typeface="Canva Sans Bold"/>
                <a:cs typeface="Canva Sans Bold"/>
                <a:sym typeface="Canva Sans Bold"/>
              </a:rPr>
              <a:t>Uses:</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Ensemble spread (standard deviation)</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Intervals of confidence</a:t>
            </a:r>
          </a:p>
          <a:p>
            <a:pPr algn="l">
              <a:lnSpc>
                <a:spcPts val="2168"/>
              </a:lnSpc>
            </a:pPr>
          </a:p>
        </p:txBody>
      </p:sp>
      <p:pic>
        <p:nvPicPr>
          <p:cNvPr name="Picture 14" id="14"/>
          <p:cNvPicPr>
            <a:picLocks noChangeAspect="true"/>
          </p:cNvPicPr>
          <p:nvPr/>
        </p:nvPicPr>
        <p:blipFill>
          <a:blip r:embed="rId5"/>
          <a:stretch>
            <a:fillRect/>
          </a:stretch>
        </p:blipFill>
        <p:spPr>
          <a:xfrm rot="0">
            <a:off x="3370947" y="3380402"/>
            <a:ext cx="5054473" cy="1164877"/>
          </a:xfrm>
          <a:prstGeom prst="rect">
            <a:avLst/>
          </a:prstGeom>
        </p:spPr>
      </p:pic>
      <p:pic>
        <p:nvPicPr>
          <p:cNvPr name="Picture 15" id="15"/>
          <p:cNvPicPr>
            <a:picLocks noChangeAspect="true"/>
          </p:cNvPicPr>
          <p:nvPr/>
        </p:nvPicPr>
        <p:blipFill>
          <a:blip r:embed="rId6"/>
          <a:stretch>
            <a:fillRect/>
          </a:stretch>
        </p:blipFill>
        <p:spPr>
          <a:xfrm rot="0">
            <a:off x="2153948" y="4990780"/>
            <a:ext cx="4300987" cy="1484371"/>
          </a:xfrm>
          <a:prstGeom prst="rect">
            <a:avLst/>
          </a:prstGeom>
        </p:spPr>
      </p:pic>
      <p:sp>
        <p:nvSpPr>
          <p:cNvPr name="Freeform 16" id="16"/>
          <p:cNvSpPr/>
          <p:nvPr/>
        </p:nvSpPr>
        <p:spPr>
          <a:xfrm flipH="false" flipV="false" rot="0">
            <a:off x="9296248" y="2842108"/>
            <a:ext cx="8094295" cy="4289976"/>
          </a:xfrm>
          <a:custGeom>
            <a:avLst/>
            <a:gdLst/>
            <a:ahLst/>
            <a:cxnLst/>
            <a:rect r="r" b="b" t="t" l="l"/>
            <a:pathLst>
              <a:path h="4289976" w="8094295">
                <a:moveTo>
                  <a:pt x="0" y="0"/>
                </a:moveTo>
                <a:lnTo>
                  <a:pt x="8094295" y="0"/>
                </a:lnTo>
                <a:lnTo>
                  <a:pt x="8094295" y="4289976"/>
                </a:lnTo>
                <a:lnTo>
                  <a:pt x="0" y="4289976"/>
                </a:lnTo>
                <a:lnTo>
                  <a:pt x="0" y="0"/>
                </a:lnTo>
                <a:close/>
              </a:path>
            </a:pathLst>
          </a:custGeom>
          <a:blipFill>
            <a:blip r:embed="rId7"/>
            <a:stretch>
              <a:fillRect l="0" t="0" r="0" b="0"/>
            </a:stretch>
          </a:blipFill>
        </p:spPr>
      </p:sp>
      <p:sp>
        <p:nvSpPr>
          <p:cNvPr name="TextBox 17" id="17"/>
          <p:cNvSpPr txBox="true"/>
          <p:nvPr/>
        </p:nvSpPr>
        <p:spPr>
          <a:xfrm rot="0">
            <a:off x="9525196" y="7500323"/>
            <a:ext cx="7275144" cy="1967893"/>
          </a:xfrm>
          <a:prstGeom prst="rect">
            <a:avLst/>
          </a:prstGeom>
        </p:spPr>
        <p:txBody>
          <a:bodyPr anchor="t" rtlCol="false" tIns="0" lIns="0" bIns="0" rIns="0">
            <a:spAutoFit/>
          </a:bodyPr>
          <a:lstStyle/>
          <a:p>
            <a:pPr algn="l">
              <a:lnSpc>
                <a:spcPts val="4060"/>
              </a:lnSpc>
            </a:pPr>
            <a:r>
              <a:rPr lang="en-US" sz="2900" b="true">
                <a:solidFill>
                  <a:srgbClr val="000000"/>
                </a:solidFill>
                <a:latin typeface="Canva Sans Bold"/>
                <a:ea typeface="Canva Sans Bold"/>
                <a:cs typeface="Canva Sans Bold"/>
                <a:sym typeface="Canva Sans Bold"/>
              </a:rPr>
              <a:t>From</a:t>
            </a:r>
            <a:r>
              <a:rPr lang="en-US" b="true" sz="2900">
                <a:solidFill>
                  <a:srgbClr val="000000"/>
                </a:solidFill>
                <a:latin typeface="Canva Sans Bold"/>
                <a:ea typeface="Canva Sans Bold"/>
                <a:cs typeface="Canva Sans Bold"/>
                <a:sym typeface="Canva Sans Bold"/>
              </a:rPr>
              <a:t> the Results:-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Better RMSE and Brier scores</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Better relationship between skill and spread</a:t>
            </a:r>
          </a:p>
          <a:p>
            <a:pPr algn="l">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708993" y="467188"/>
            <a:ext cx="5510093" cy="1068671"/>
            <a:chOff x="0" y="0"/>
            <a:chExt cx="7346791" cy="1424895"/>
          </a:xfrm>
        </p:grpSpPr>
        <p:sp>
          <p:nvSpPr>
            <p:cNvPr name="Freeform 11" id="11"/>
            <p:cNvSpPr/>
            <p:nvPr/>
          </p:nvSpPr>
          <p:spPr>
            <a:xfrm flipH="false" flipV="false" rot="0">
              <a:off x="0" y="0"/>
              <a:ext cx="7346791" cy="1424896"/>
            </a:xfrm>
            <a:custGeom>
              <a:avLst/>
              <a:gdLst/>
              <a:ahLst/>
              <a:cxnLst/>
              <a:rect r="r" b="b" t="t" l="l"/>
              <a:pathLst>
                <a:path h="1424896" w="7346791">
                  <a:moveTo>
                    <a:pt x="0" y="0"/>
                  </a:moveTo>
                  <a:lnTo>
                    <a:pt x="7346791" y="0"/>
                  </a:lnTo>
                  <a:lnTo>
                    <a:pt x="7346791" y="1424896"/>
                  </a:lnTo>
                  <a:lnTo>
                    <a:pt x="0" y="1424896"/>
                  </a:lnTo>
                  <a:close/>
                </a:path>
              </a:pathLst>
            </a:custGeom>
            <a:blipFill>
              <a:blip r:embed="rId4">
                <a:alphaModFix amt="0"/>
              </a:blip>
              <a:stretch>
                <a:fillRect l="0" t="-194566" r="-186263" b="-280624"/>
              </a:stretch>
            </a:blipFill>
          </p:spPr>
        </p:sp>
        <p:sp>
          <p:nvSpPr>
            <p:cNvPr name="TextBox 12" id="12"/>
            <p:cNvSpPr txBox="true"/>
            <p:nvPr/>
          </p:nvSpPr>
          <p:spPr>
            <a:xfrm>
              <a:off x="0" y="47625"/>
              <a:ext cx="7346791"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Coding &amp; Simulation</a:t>
              </a:r>
            </a:p>
          </p:txBody>
        </p:sp>
      </p:grpSp>
      <p:sp>
        <p:nvSpPr>
          <p:cNvPr name="Freeform 13" id="13"/>
          <p:cNvSpPr/>
          <p:nvPr/>
        </p:nvSpPr>
        <p:spPr>
          <a:xfrm flipH="false" flipV="false" rot="0">
            <a:off x="10874924" y="2291388"/>
            <a:ext cx="7029997" cy="6767030"/>
          </a:xfrm>
          <a:custGeom>
            <a:avLst/>
            <a:gdLst/>
            <a:ahLst/>
            <a:cxnLst/>
            <a:rect r="r" b="b" t="t" l="l"/>
            <a:pathLst>
              <a:path h="6767030" w="7029997">
                <a:moveTo>
                  <a:pt x="0" y="0"/>
                </a:moveTo>
                <a:lnTo>
                  <a:pt x="7029997" y="0"/>
                </a:lnTo>
                <a:lnTo>
                  <a:pt x="7029997" y="6767030"/>
                </a:lnTo>
                <a:lnTo>
                  <a:pt x="0" y="6767030"/>
                </a:lnTo>
                <a:lnTo>
                  <a:pt x="0" y="0"/>
                </a:lnTo>
                <a:close/>
              </a:path>
            </a:pathLst>
          </a:custGeom>
          <a:blipFill>
            <a:blip r:embed="rId5"/>
            <a:stretch>
              <a:fillRect l="0" t="0" r="0" b="0"/>
            </a:stretch>
          </a:blipFill>
        </p:spPr>
      </p:sp>
      <p:sp>
        <p:nvSpPr>
          <p:cNvPr name="TextBox 14" id="14"/>
          <p:cNvSpPr txBox="true"/>
          <p:nvPr/>
        </p:nvSpPr>
        <p:spPr>
          <a:xfrm rot="0">
            <a:off x="1562581" y="6839703"/>
            <a:ext cx="7475220" cy="1733409"/>
          </a:xfrm>
          <a:prstGeom prst="rect">
            <a:avLst/>
          </a:prstGeom>
        </p:spPr>
        <p:txBody>
          <a:bodyPr anchor="t" rtlCol="false" tIns="0" lIns="0" bIns="0" rIns="0">
            <a:spAutoFit/>
          </a:bodyPr>
          <a:lstStyle/>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NumPy for numerical simulation</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Pandas for data preprocessing</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SciPy for statistical modeling</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Matplotlib for visualization</a:t>
            </a:r>
          </a:p>
          <a:p>
            <a:pPr algn="l">
              <a:lnSpc>
                <a:spcPts val="2700"/>
              </a:lnSpc>
            </a:pPr>
          </a:p>
        </p:txBody>
      </p:sp>
      <p:sp>
        <p:nvSpPr>
          <p:cNvPr name="TextBox 15" id="15"/>
          <p:cNvSpPr txBox="true"/>
          <p:nvPr/>
        </p:nvSpPr>
        <p:spPr>
          <a:xfrm rot="0">
            <a:off x="7708880" y="1478709"/>
            <a:ext cx="3510320" cy="514350"/>
          </a:xfrm>
          <a:prstGeom prst="rect">
            <a:avLst/>
          </a:prstGeom>
        </p:spPr>
        <p:txBody>
          <a:bodyPr anchor="t" rtlCol="false" tIns="0" lIns="0" bIns="0" rIns="0">
            <a:spAutoFit/>
          </a:bodyPr>
          <a:lstStyle/>
          <a:p>
            <a:pPr algn="ctr">
              <a:lnSpc>
                <a:spcPts val="4200"/>
              </a:lnSpc>
            </a:pPr>
            <a:r>
              <a:rPr lang="en-US" sz="3000" i="true">
                <a:solidFill>
                  <a:srgbClr val="7D1916"/>
                </a:solidFill>
                <a:latin typeface="Canva Sans Italics"/>
                <a:ea typeface="Canva Sans Italics"/>
                <a:cs typeface="Canva Sans Italics"/>
                <a:sym typeface="Canva Sans Italics"/>
              </a:rPr>
              <a:t>Tools and Libraries</a:t>
            </a:r>
          </a:p>
        </p:txBody>
      </p:sp>
      <p:grpSp>
        <p:nvGrpSpPr>
          <p:cNvPr name="Group 16" id="16"/>
          <p:cNvGrpSpPr/>
          <p:nvPr/>
        </p:nvGrpSpPr>
        <p:grpSpPr>
          <a:xfrm rot="0">
            <a:off x="1562581" y="2950482"/>
            <a:ext cx="7708053" cy="3491803"/>
            <a:chOff x="0" y="0"/>
            <a:chExt cx="10277404" cy="4655738"/>
          </a:xfrm>
        </p:grpSpPr>
        <p:grpSp>
          <p:nvGrpSpPr>
            <p:cNvPr name="Group 17" id="17"/>
            <p:cNvGrpSpPr/>
            <p:nvPr/>
          </p:nvGrpSpPr>
          <p:grpSpPr>
            <a:xfrm rot="0">
              <a:off x="0" y="0"/>
              <a:ext cx="10108559" cy="4655738"/>
              <a:chOff x="0" y="0"/>
              <a:chExt cx="1996752" cy="919652"/>
            </a:xfrm>
          </p:grpSpPr>
          <p:sp>
            <p:nvSpPr>
              <p:cNvPr name="Freeform 18" id="18"/>
              <p:cNvSpPr/>
              <p:nvPr/>
            </p:nvSpPr>
            <p:spPr>
              <a:xfrm flipH="false" flipV="false" rot="0">
                <a:off x="0" y="0"/>
                <a:ext cx="1996752" cy="919652"/>
              </a:xfrm>
              <a:custGeom>
                <a:avLst/>
                <a:gdLst/>
                <a:ahLst/>
                <a:cxnLst/>
                <a:rect r="r" b="b" t="t" l="l"/>
                <a:pathLst>
                  <a:path h="919652" w="1996752">
                    <a:moveTo>
                      <a:pt x="52080" y="0"/>
                    </a:moveTo>
                    <a:lnTo>
                      <a:pt x="1944673" y="0"/>
                    </a:lnTo>
                    <a:cubicBezTo>
                      <a:pt x="1958485" y="0"/>
                      <a:pt x="1971732" y="5487"/>
                      <a:pt x="1981499" y="15254"/>
                    </a:cubicBezTo>
                    <a:cubicBezTo>
                      <a:pt x="1991265" y="25021"/>
                      <a:pt x="1996752" y="38267"/>
                      <a:pt x="1996752" y="52080"/>
                    </a:cubicBezTo>
                    <a:lnTo>
                      <a:pt x="1996752" y="867572"/>
                    </a:lnTo>
                    <a:cubicBezTo>
                      <a:pt x="1996752" y="881385"/>
                      <a:pt x="1991265" y="894631"/>
                      <a:pt x="1981499" y="904398"/>
                    </a:cubicBezTo>
                    <a:cubicBezTo>
                      <a:pt x="1971732" y="914165"/>
                      <a:pt x="1958485" y="919652"/>
                      <a:pt x="1944673" y="919652"/>
                    </a:cubicBezTo>
                    <a:lnTo>
                      <a:pt x="52080" y="919652"/>
                    </a:lnTo>
                    <a:cubicBezTo>
                      <a:pt x="38267" y="919652"/>
                      <a:pt x="25021" y="914165"/>
                      <a:pt x="15254" y="904398"/>
                    </a:cubicBezTo>
                    <a:cubicBezTo>
                      <a:pt x="5487" y="894631"/>
                      <a:pt x="0" y="881385"/>
                      <a:pt x="0" y="867572"/>
                    </a:cubicBezTo>
                    <a:lnTo>
                      <a:pt x="0" y="52080"/>
                    </a:lnTo>
                    <a:cubicBezTo>
                      <a:pt x="0" y="38267"/>
                      <a:pt x="5487" y="25021"/>
                      <a:pt x="15254" y="15254"/>
                    </a:cubicBezTo>
                    <a:cubicBezTo>
                      <a:pt x="25021" y="5487"/>
                      <a:pt x="38267" y="0"/>
                      <a:pt x="52080" y="0"/>
                    </a:cubicBezTo>
                    <a:close/>
                  </a:path>
                </a:pathLst>
              </a:custGeom>
              <a:solidFill>
                <a:srgbClr val="B4B4B4"/>
              </a:solidFill>
            </p:spPr>
          </p:sp>
          <p:sp>
            <p:nvSpPr>
              <p:cNvPr name="TextBox 19" id="19"/>
              <p:cNvSpPr txBox="true"/>
              <p:nvPr/>
            </p:nvSpPr>
            <p:spPr>
              <a:xfrm>
                <a:off x="0" y="-38100"/>
                <a:ext cx="1996752" cy="957752"/>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515277" y="258828"/>
              <a:ext cx="9762127" cy="4255981"/>
            </a:xfrm>
            <a:prstGeom prst="rect">
              <a:avLst/>
            </a:prstGeom>
          </p:spPr>
          <p:txBody>
            <a:bodyPr anchor="t" rtlCol="false" tIns="0" lIns="0" bIns="0" rIns="0">
              <a:spAutoFit/>
            </a:bodyPr>
            <a:lstStyle/>
            <a:p>
              <a:pPr algn="l">
                <a:lnSpc>
                  <a:spcPts val="3220"/>
                </a:lnSpc>
              </a:pPr>
              <a:r>
                <a:rPr lang="en-US" sz="2300">
                  <a:solidFill>
                    <a:srgbClr val="5170FF"/>
                  </a:solidFill>
                  <a:latin typeface="Courier Prime"/>
                  <a:ea typeface="Courier Prime"/>
                  <a:cs typeface="Courier Prime"/>
                  <a:sym typeface="Courier Prime"/>
                </a:rPr>
                <a:t>import </a:t>
              </a:r>
              <a:r>
                <a:rPr lang="en-US" sz="2300">
                  <a:solidFill>
                    <a:srgbClr val="000000"/>
                  </a:solidFill>
                  <a:latin typeface="Courier Prime"/>
                  <a:ea typeface="Courier Prime"/>
                  <a:cs typeface="Courier Prime"/>
                  <a:sym typeface="Courier Prime"/>
                </a:rPr>
                <a:t>numpy </a:t>
              </a:r>
              <a:r>
                <a:rPr lang="en-US" sz="2300">
                  <a:solidFill>
                    <a:srgbClr val="5170FF"/>
                  </a:solidFill>
                  <a:latin typeface="Courier Prime"/>
                  <a:ea typeface="Courier Prime"/>
                  <a:cs typeface="Courier Prime"/>
                  <a:sym typeface="Courier Prime"/>
                </a:rPr>
                <a:t>as</a:t>
              </a:r>
              <a:r>
                <a:rPr lang="en-US" sz="2300">
                  <a:solidFill>
                    <a:srgbClr val="000000"/>
                  </a:solidFill>
                  <a:latin typeface="Courier Prime"/>
                  <a:ea typeface="Courier Prime"/>
                  <a:cs typeface="Courier Prime"/>
                  <a:sym typeface="Courier Prime"/>
                </a:rPr>
                <a:t> np</a:t>
              </a:r>
            </a:p>
            <a:p>
              <a:pPr algn="l">
                <a:lnSpc>
                  <a:spcPts val="3220"/>
                </a:lnSpc>
              </a:pPr>
              <a:r>
                <a:rPr lang="en-US" sz="2300">
                  <a:solidFill>
                    <a:srgbClr val="5170FF"/>
                  </a:solidFill>
                  <a:latin typeface="Courier Prime"/>
                  <a:ea typeface="Courier Prime"/>
                  <a:cs typeface="Courier Prime"/>
                  <a:sym typeface="Courier Prime"/>
                </a:rPr>
                <a:t>import</a:t>
              </a:r>
              <a:r>
                <a:rPr lang="en-US" sz="2300">
                  <a:solidFill>
                    <a:srgbClr val="000000"/>
                  </a:solidFill>
                  <a:latin typeface="Courier Prime"/>
                  <a:ea typeface="Courier Prime"/>
                  <a:cs typeface="Courier Prime"/>
                  <a:sym typeface="Courier Prime"/>
                </a:rPr>
                <a:t> pandas </a:t>
              </a:r>
              <a:r>
                <a:rPr lang="en-US" sz="2300">
                  <a:solidFill>
                    <a:srgbClr val="5170FF"/>
                  </a:solidFill>
                  <a:latin typeface="Courier Prime"/>
                  <a:ea typeface="Courier Prime"/>
                  <a:cs typeface="Courier Prime"/>
                  <a:sym typeface="Courier Prime"/>
                </a:rPr>
                <a:t>as</a:t>
              </a:r>
              <a:r>
                <a:rPr lang="en-US" sz="2300">
                  <a:solidFill>
                    <a:srgbClr val="000000"/>
                  </a:solidFill>
                  <a:latin typeface="Courier Prime"/>
                  <a:ea typeface="Courier Prime"/>
                  <a:cs typeface="Courier Prime"/>
                  <a:sym typeface="Courier Prime"/>
                </a:rPr>
                <a:t> pd</a:t>
              </a:r>
            </a:p>
            <a:p>
              <a:pPr algn="l">
                <a:lnSpc>
                  <a:spcPts val="3220"/>
                </a:lnSpc>
              </a:pPr>
              <a:r>
                <a:rPr lang="en-US" sz="2300">
                  <a:solidFill>
                    <a:srgbClr val="5170FF"/>
                  </a:solidFill>
                  <a:latin typeface="Courier Prime"/>
                  <a:ea typeface="Courier Prime"/>
                  <a:cs typeface="Courier Prime"/>
                  <a:sym typeface="Courier Prime"/>
                </a:rPr>
                <a:t>import</a:t>
              </a:r>
              <a:r>
                <a:rPr lang="en-US" sz="2300">
                  <a:solidFill>
                    <a:srgbClr val="000000"/>
                  </a:solidFill>
                  <a:latin typeface="Courier Prime"/>
                  <a:ea typeface="Courier Prime"/>
                  <a:cs typeface="Courier Prime"/>
                  <a:sym typeface="Courier Prime"/>
                </a:rPr>
                <a:t> matplotlib.pyplot </a:t>
              </a:r>
              <a:r>
                <a:rPr lang="en-US" sz="2300">
                  <a:solidFill>
                    <a:srgbClr val="5170FF"/>
                  </a:solidFill>
                  <a:latin typeface="Courier Prime"/>
                  <a:ea typeface="Courier Prime"/>
                  <a:cs typeface="Courier Prime"/>
                  <a:sym typeface="Courier Prime"/>
                </a:rPr>
                <a:t>as</a:t>
              </a:r>
              <a:r>
                <a:rPr lang="en-US" sz="2300">
                  <a:solidFill>
                    <a:srgbClr val="000000"/>
                  </a:solidFill>
                  <a:latin typeface="Courier Prime"/>
                  <a:ea typeface="Courier Prime"/>
                  <a:cs typeface="Courier Prime"/>
                  <a:sym typeface="Courier Prime"/>
                </a:rPr>
                <a:t> plt</a:t>
              </a:r>
            </a:p>
            <a:p>
              <a:pPr algn="l">
                <a:lnSpc>
                  <a:spcPts val="3220"/>
                </a:lnSpc>
              </a:pPr>
              <a:r>
                <a:rPr lang="en-US" sz="2300">
                  <a:solidFill>
                    <a:srgbClr val="5170FF"/>
                  </a:solidFill>
                  <a:latin typeface="Courier Prime"/>
                  <a:ea typeface="Courier Prime"/>
                  <a:cs typeface="Courier Prime"/>
                  <a:sym typeface="Courier Prime"/>
                </a:rPr>
                <a:t>import </a:t>
              </a:r>
              <a:r>
                <a:rPr lang="en-US" sz="2300">
                  <a:solidFill>
                    <a:srgbClr val="000000"/>
                  </a:solidFill>
                  <a:latin typeface="Courier Prime"/>
                  <a:ea typeface="Courier Prime"/>
                  <a:cs typeface="Courier Prime"/>
                  <a:sym typeface="Courier Prime"/>
                </a:rPr>
                <a:t>matplotlib.gridspec </a:t>
              </a:r>
              <a:r>
                <a:rPr lang="en-US" sz="2300">
                  <a:solidFill>
                    <a:srgbClr val="5170FF"/>
                  </a:solidFill>
                  <a:latin typeface="Courier Prime"/>
                  <a:ea typeface="Courier Prime"/>
                  <a:cs typeface="Courier Prime"/>
                  <a:sym typeface="Courier Prime"/>
                </a:rPr>
                <a:t>as</a:t>
              </a:r>
              <a:r>
                <a:rPr lang="en-US" sz="2300">
                  <a:solidFill>
                    <a:srgbClr val="000000"/>
                  </a:solidFill>
                  <a:latin typeface="Courier Prime"/>
                  <a:ea typeface="Courier Prime"/>
                  <a:cs typeface="Courier Prime"/>
                  <a:sym typeface="Courier Prime"/>
                </a:rPr>
                <a:t> gridspec</a:t>
              </a:r>
            </a:p>
            <a:p>
              <a:pPr algn="l">
                <a:lnSpc>
                  <a:spcPts val="3220"/>
                </a:lnSpc>
              </a:pPr>
              <a:r>
                <a:rPr lang="en-US" sz="2300">
                  <a:solidFill>
                    <a:srgbClr val="5170FF"/>
                  </a:solidFill>
                  <a:latin typeface="Courier Prime"/>
                  <a:ea typeface="Courier Prime"/>
                  <a:cs typeface="Courier Prime"/>
                  <a:sym typeface="Courier Prime"/>
                </a:rPr>
                <a:t>from</a:t>
              </a:r>
              <a:r>
                <a:rPr lang="en-US" sz="2300">
                  <a:solidFill>
                    <a:srgbClr val="000000"/>
                  </a:solidFill>
                  <a:latin typeface="Courier Prime"/>
                  <a:ea typeface="Courier Prime"/>
                  <a:cs typeface="Courier Prime"/>
                  <a:sym typeface="Courier Prime"/>
                </a:rPr>
                <a:t> scipy </a:t>
              </a:r>
              <a:r>
                <a:rPr lang="en-US" sz="2300">
                  <a:solidFill>
                    <a:srgbClr val="5170FF"/>
                  </a:solidFill>
                  <a:latin typeface="Courier Prime"/>
                  <a:ea typeface="Courier Prime"/>
                  <a:cs typeface="Courier Prime"/>
                  <a:sym typeface="Courier Prime"/>
                </a:rPr>
                <a:t>import</a:t>
              </a:r>
              <a:r>
                <a:rPr lang="en-US" sz="2300">
                  <a:solidFill>
                    <a:srgbClr val="000000"/>
                  </a:solidFill>
                  <a:latin typeface="Courier Prime"/>
                  <a:ea typeface="Courier Prime"/>
                  <a:cs typeface="Courier Prime"/>
                  <a:sym typeface="Courier Prime"/>
                </a:rPr>
                <a:t> stats</a:t>
              </a:r>
            </a:p>
            <a:p>
              <a:pPr algn="l">
                <a:lnSpc>
                  <a:spcPts val="3220"/>
                </a:lnSpc>
              </a:pPr>
              <a:r>
                <a:rPr lang="en-US" sz="2300">
                  <a:solidFill>
                    <a:srgbClr val="5170FF"/>
                  </a:solidFill>
                  <a:latin typeface="Courier Prime"/>
                  <a:ea typeface="Courier Prime"/>
                  <a:cs typeface="Courier Prime"/>
                  <a:sym typeface="Courier Prime"/>
                </a:rPr>
                <a:t>from</a:t>
              </a:r>
              <a:r>
                <a:rPr lang="en-US" sz="2300">
                  <a:solidFill>
                    <a:srgbClr val="000000"/>
                  </a:solidFill>
                  <a:latin typeface="Courier Prime"/>
                  <a:ea typeface="Courier Prime"/>
                  <a:cs typeface="Courier Prime"/>
                  <a:sym typeface="Courier Prime"/>
                </a:rPr>
                <a:t> scipy.stats </a:t>
              </a:r>
              <a:r>
                <a:rPr lang="en-US" sz="2300">
                  <a:solidFill>
                    <a:srgbClr val="5170FF"/>
                  </a:solidFill>
                  <a:latin typeface="Courier Prime"/>
                  <a:ea typeface="Courier Prime"/>
                  <a:cs typeface="Courier Prime"/>
                  <a:sym typeface="Courier Prime"/>
                </a:rPr>
                <a:t>import</a:t>
              </a:r>
              <a:r>
                <a:rPr lang="en-US" sz="2300">
                  <a:solidFill>
                    <a:srgbClr val="000000"/>
                  </a:solidFill>
                  <a:latin typeface="Courier Prime"/>
                  <a:ea typeface="Courier Prime"/>
                  <a:cs typeface="Courier Prime"/>
                  <a:sym typeface="Courier Prime"/>
                </a:rPr>
                <a:t> norm, gamma, lognorm, genextreme</a:t>
              </a:r>
            </a:p>
            <a:p>
              <a:pPr algn="l">
                <a:lnSpc>
                  <a:spcPts val="3220"/>
                </a:lnSpc>
              </a:pPr>
            </a:p>
          </p:txBody>
        </p:sp>
      </p:grpSp>
      <p:sp>
        <p:nvSpPr>
          <p:cNvPr name="TextBox 21" id="21"/>
          <p:cNvSpPr txBox="true"/>
          <p:nvPr/>
        </p:nvSpPr>
        <p:spPr>
          <a:xfrm rot="0">
            <a:off x="1547348" y="2411886"/>
            <a:ext cx="2079188" cy="431799"/>
          </a:xfrm>
          <a:prstGeom prst="rect">
            <a:avLst/>
          </a:prstGeom>
        </p:spPr>
        <p:txBody>
          <a:bodyPr anchor="t" rtlCol="false" tIns="0" lIns="0" bIns="0" rIns="0">
            <a:spAutoFit/>
          </a:bodyPr>
          <a:lstStyle/>
          <a:p>
            <a:pPr algn="l">
              <a:lnSpc>
                <a:spcPts val="3500"/>
              </a:lnSpc>
            </a:pPr>
            <a:r>
              <a:rPr lang="en-US" sz="2500">
                <a:solidFill>
                  <a:srgbClr val="00BF63"/>
                </a:solidFill>
                <a:latin typeface="Canva Sans"/>
                <a:ea typeface="Canva Sans"/>
                <a:cs typeface="Canva Sans"/>
                <a:sym typeface="Canva Sans"/>
              </a:rPr>
              <a:t>Code Snippet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708993" y="467188"/>
            <a:ext cx="5510093" cy="1068671"/>
            <a:chOff x="0" y="0"/>
            <a:chExt cx="7346791" cy="1424895"/>
          </a:xfrm>
        </p:grpSpPr>
        <p:sp>
          <p:nvSpPr>
            <p:cNvPr name="Freeform 11" id="11"/>
            <p:cNvSpPr/>
            <p:nvPr/>
          </p:nvSpPr>
          <p:spPr>
            <a:xfrm flipH="false" flipV="false" rot="0">
              <a:off x="0" y="0"/>
              <a:ext cx="7346791" cy="1424896"/>
            </a:xfrm>
            <a:custGeom>
              <a:avLst/>
              <a:gdLst/>
              <a:ahLst/>
              <a:cxnLst/>
              <a:rect r="r" b="b" t="t" l="l"/>
              <a:pathLst>
                <a:path h="1424896" w="7346791">
                  <a:moveTo>
                    <a:pt x="0" y="0"/>
                  </a:moveTo>
                  <a:lnTo>
                    <a:pt x="7346791" y="0"/>
                  </a:lnTo>
                  <a:lnTo>
                    <a:pt x="7346791" y="1424896"/>
                  </a:lnTo>
                  <a:lnTo>
                    <a:pt x="0" y="1424896"/>
                  </a:lnTo>
                  <a:close/>
                </a:path>
              </a:pathLst>
            </a:custGeom>
            <a:blipFill>
              <a:blip r:embed="rId4">
                <a:alphaModFix amt="0"/>
              </a:blip>
              <a:stretch>
                <a:fillRect l="0" t="-194566" r="-186263" b="-280624"/>
              </a:stretch>
            </a:blipFill>
          </p:spPr>
        </p:sp>
        <p:sp>
          <p:nvSpPr>
            <p:cNvPr name="TextBox 12" id="12"/>
            <p:cNvSpPr txBox="true"/>
            <p:nvPr/>
          </p:nvSpPr>
          <p:spPr>
            <a:xfrm>
              <a:off x="0" y="47625"/>
              <a:ext cx="7346791"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Coding &amp; Simulation</a:t>
              </a:r>
            </a:p>
          </p:txBody>
        </p:sp>
      </p:grpSp>
      <p:grpSp>
        <p:nvGrpSpPr>
          <p:cNvPr name="Group 13" id="13"/>
          <p:cNvGrpSpPr/>
          <p:nvPr/>
        </p:nvGrpSpPr>
        <p:grpSpPr>
          <a:xfrm rot="0">
            <a:off x="1562581" y="2843685"/>
            <a:ext cx="7581419" cy="3491803"/>
            <a:chOff x="0" y="0"/>
            <a:chExt cx="10108559" cy="4655738"/>
          </a:xfrm>
        </p:grpSpPr>
        <p:grpSp>
          <p:nvGrpSpPr>
            <p:cNvPr name="Group 14" id="14"/>
            <p:cNvGrpSpPr/>
            <p:nvPr/>
          </p:nvGrpSpPr>
          <p:grpSpPr>
            <a:xfrm rot="0">
              <a:off x="0" y="0"/>
              <a:ext cx="10108559" cy="4655738"/>
              <a:chOff x="0" y="0"/>
              <a:chExt cx="1996752" cy="919652"/>
            </a:xfrm>
          </p:grpSpPr>
          <p:sp>
            <p:nvSpPr>
              <p:cNvPr name="Freeform 15" id="15"/>
              <p:cNvSpPr/>
              <p:nvPr/>
            </p:nvSpPr>
            <p:spPr>
              <a:xfrm flipH="false" flipV="false" rot="0">
                <a:off x="0" y="0"/>
                <a:ext cx="1996752" cy="919652"/>
              </a:xfrm>
              <a:custGeom>
                <a:avLst/>
                <a:gdLst/>
                <a:ahLst/>
                <a:cxnLst/>
                <a:rect r="r" b="b" t="t" l="l"/>
                <a:pathLst>
                  <a:path h="919652" w="1996752">
                    <a:moveTo>
                      <a:pt x="52080" y="0"/>
                    </a:moveTo>
                    <a:lnTo>
                      <a:pt x="1944673" y="0"/>
                    </a:lnTo>
                    <a:cubicBezTo>
                      <a:pt x="1958485" y="0"/>
                      <a:pt x="1971732" y="5487"/>
                      <a:pt x="1981499" y="15254"/>
                    </a:cubicBezTo>
                    <a:cubicBezTo>
                      <a:pt x="1991265" y="25021"/>
                      <a:pt x="1996752" y="38267"/>
                      <a:pt x="1996752" y="52080"/>
                    </a:cubicBezTo>
                    <a:lnTo>
                      <a:pt x="1996752" y="867572"/>
                    </a:lnTo>
                    <a:cubicBezTo>
                      <a:pt x="1996752" y="881385"/>
                      <a:pt x="1991265" y="894631"/>
                      <a:pt x="1981499" y="904398"/>
                    </a:cubicBezTo>
                    <a:cubicBezTo>
                      <a:pt x="1971732" y="914165"/>
                      <a:pt x="1958485" y="919652"/>
                      <a:pt x="1944673" y="919652"/>
                    </a:cubicBezTo>
                    <a:lnTo>
                      <a:pt x="52080" y="919652"/>
                    </a:lnTo>
                    <a:cubicBezTo>
                      <a:pt x="38267" y="919652"/>
                      <a:pt x="25021" y="914165"/>
                      <a:pt x="15254" y="904398"/>
                    </a:cubicBezTo>
                    <a:cubicBezTo>
                      <a:pt x="5487" y="894631"/>
                      <a:pt x="0" y="881385"/>
                      <a:pt x="0" y="867572"/>
                    </a:cubicBezTo>
                    <a:lnTo>
                      <a:pt x="0" y="52080"/>
                    </a:lnTo>
                    <a:cubicBezTo>
                      <a:pt x="0" y="38267"/>
                      <a:pt x="5487" y="25021"/>
                      <a:pt x="15254" y="15254"/>
                    </a:cubicBezTo>
                    <a:cubicBezTo>
                      <a:pt x="25021" y="5487"/>
                      <a:pt x="38267" y="0"/>
                      <a:pt x="52080" y="0"/>
                    </a:cubicBezTo>
                    <a:close/>
                  </a:path>
                </a:pathLst>
              </a:custGeom>
              <a:solidFill>
                <a:srgbClr val="B4B4B4"/>
              </a:solidFill>
            </p:spPr>
          </p:sp>
          <p:sp>
            <p:nvSpPr>
              <p:cNvPr name="TextBox 16" id="16"/>
              <p:cNvSpPr txBox="true"/>
              <p:nvPr/>
            </p:nvSpPr>
            <p:spPr>
              <a:xfrm>
                <a:off x="0" y="-38100"/>
                <a:ext cx="1996752" cy="957752"/>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346432" y="398943"/>
              <a:ext cx="9762127" cy="4255981"/>
            </a:xfrm>
            <a:prstGeom prst="rect">
              <a:avLst/>
            </a:prstGeom>
          </p:spPr>
          <p:txBody>
            <a:bodyPr anchor="t" rtlCol="false" tIns="0" lIns="0" bIns="0" rIns="0">
              <a:spAutoFit/>
            </a:bodyPr>
            <a:lstStyle/>
            <a:p>
              <a:pPr algn="l">
                <a:lnSpc>
                  <a:spcPts val="3220"/>
                </a:lnSpc>
              </a:pPr>
              <a:r>
                <a:rPr lang="en-US" sz="2300">
                  <a:solidFill>
                    <a:srgbClr val="000000"/>
                  </a:solidFill>
                  <a:latin typeface="Courier Prime"/>
                  <a:ea typeface="Courier Prime"/>
                  <a:cs typeface="Courier Prime"/>
                  <a:sym typeface="Courier Prime"/>
                </a:rPr>
                <a:t>ALPHA = </a:t>
              </a:r>
              <a:r>
                <a:rPr lang="en-US" sz="2300">
                  <a:solidFill>
                    <a:srgbClr val="E8070E"/>
                  </a:solidFill>
                  <a:latin typeface="Courier Prime"/>
                  <a:ea typeface="Courier Prime"/>
                  <a:cs typeface="Courier Prime"/>
                  <a:sym typeface="Courier Prime"/>
                </a:rPr>
                <a:t>0.05</a:t>
              </a:r>
            </a:p>
            <a:p>
              <a:pPr algn="l">
                <a:lnSpc>
                  <a:spcPts val="3220"/>
                </a:lnSpc>
              </a:pPr>
            </a:p>
            <a:p>
              <a:pPr algn="l">
                <a:lnSpc>
                  <a:spcPts val="3220"/>
                </a:lnSpc>
              </a:pPr>
              <a:r>
                <a:rPr lang="en-US" sz="2300">
                  <a:solidFill>
                    <a:srgbClr val="000000"/>
                  </a:solidFill>
                  <a:latin typeface="Courier Prime"/>
                  <a:ea typeface="Courier Prime"/>
                  <a:cs typeface="Courier Prime"/>
                  <a:sym typeface="Courier Prime"/>
                </a:rPr>
                <a:t>tau_empirical = np.quantile(ANNUAL, </a:t>
              </a:r>
              <a:r>
                <a:rPr lang="en-US" sz="2300">
                  <a:solidFill>
                    <a:srgbClr val="E8070E"/>
                  </a:solidFill>
                  <a:latin typeface="Courier Prime"/>
                  <a:ea typeface="Courier Prime"/>
                  <a:cs typeface="Courier Prime"/>
                  <a:sym typeface="Courier Prime"/>
                </a:rPr>
                <a:t>1</a:t>
              </a:r>
              <a:r>
                <a:rPr lang="en-US" sz="2300">
                  <a:solidFill>
                    <a:srgbClr val="000000"/>
                  </a:solidFill>
                  <a:latin typeface="Courier Prime"/>
                  <a:ea typeface="Courier Prime"/>
                  <a:cs typeface="Courier Prime"/>
                  <a:sym typeface="Courier Prime"/>
                </a:rPr>
                <a:t> - ALPHA)</a:t>
              </a:r>
            </a:p>
            <a:p>
              <a:pPr algn="l">
                <a:lnSpc>
                  <a:spcPts val="3220"/>
                </a:lnSpc>
              </a:pPr>
              <a:r>
                <a:rPr lang="en-US" sz="2300">
                  <a:solidFill>
                    <a:srgbClr val="000000"/>
                  </a:solidFill>
                  <a:latin typeface="Courier Prime"/>
                  <a:ea typeface="Courier Prime"/>
                  <a:cs typeface="Courier Prime"/>
                  <a:sym typeface="Courier Prime"/>
                </a:rPr>
                <a:t>thresholds = {"</a:t>
              </a:r>
              <a:r>
                <a:rPr lang="en-US" sz="2300">
                  <a:solidFill>
                    <a:srgbClr val="2E6417"/>
                  </a:solidFill>
                  <a:latin typeface="Courier Prime"/>
                  <a:ea typeface="Courier Prime"/>
                  <a:cs typeface="Courier Prime"/>
                  <a:sym typeface="Courier Prime"/>
                </a:rPr>
                <a:t>Empirical</a:t>
              </a:r>
              <a:r>
                <a:rPr lang="en-US" sz="2300">
                  <a:solidFill>
                    <a:srgbClr val="000000"/>
                  </a:solidFill>
                  <a:latin typeface="Courier Prime"/>
                  <a:ea typeface="Courier Prime"/>
                  <a:cs typeface="Courier Prime"/>
                  <a:sym typeface="Courier Prime"/>
                </a:rPr>
                <a:t>": tau_empirical}</a:t>
              </a:r>
            </a:p>
            <a:p>
              <a:pPr algn="l">
                <a:lnSpc>
                  <a:spcPts val="3220"/>
                </a:lnSpc>
              </a:pPr>
              <a:r>
                <a:rPr lang="en-US" sz="2300">
                  <a:solidFill>
                    <a:srgbClr val="5170FF"/>
                  </a:solidFill>
                  <a:latin typeface="Courier Prime"/>
                  <a:ea typeface="Courier Prime"/>
                  <a:cs typeface="Courier Prime"/>
                  <a:sym typeface="Courier Prime"/>
                </a:rPr>
                <a:t>for</a:t>
              </a:r>
              <a:r>
                <a:rPr lang="en-US" sz="2300">
                  <a:solidFill>
                    <a:srgbClr val="000000"/>
                  </a:solidFill>
                  <a:latin typeface="Courier Prime"/>
                  <a:ea typeface="Courier Prime"/>
                  <a:cs typeface="Courier Prime"/>
                  <a:sym typeface="Courier Prime"/>
                </a:rPr>
                <a:t> name, dist </a:t>
              </a:r>
              <a:r>
                <a:rPr lang="en-US" sz="2300">
                  <a:solidFill>
                    <a:srgbClr val="5170FF"/>
                  </a:solidFill>
                  <a:latin typeface="Courier Prime"/>
                  <a:ea typeface="Courier Prime"/>
                  <a:cs typeface="Courier Prime"/>
                  <a:sym typeface="Courier Prime"/>
                </a:rPr>
                <a:t>in</a:t>
              </a:r>
              <a:r>
                <a:rPr lang="en-US" sz="2300">
                  <a:solidFill>
                    <a:srgbClr val="000000"/>
                  </a:solidFill>
                  <a:latin typeface="Courier Prime"/>
                  <a:ea typeface="Courier Prime"/>
                  <a:cs typeface="Courier Prime"/>
                  <a:sym typeface="Courier Prime"/>
                </a:rPr>
                <a:t> fitted.items():</a:t>
              </a:r>
            </a:p>
            <a:p>
              <a:pPr algn="l">
                <a:lnSpc>
                  <a:spcPts val="3220"/>
                </a:lnSpc>
              </a:pPr>
              <a:r>
                <a:rPr lang="en-US" sz="2300">
                  <a:solidFill>
                    <a:srgbClr val="000000"/>
                  </a:solidFill>
                  <a:latin typeface="Courier Prime"/>
                  <a:ea typeface="Courier Prime"/>
                  <a:cs typeface="Courier Prime"/>
                  <a:sym typeface="Courier Prime"/>
                </a:rPr>
                <a:t>  thresholds[name] = dist.ppf(</a:t>
              </a:r>
              <a:r>
                <a:rPr lang="en-US" sz="2300">
                  <a:solidFill>
                    <a:srgbClr val="E8070E"/>
                  </a:solidFill>
                  <a:latin typeface="Courier Prime"/>
                  <a:ea typeface="Courier Prime"/>
                  <a:cs typeface="Courier Prime"/>
                  <a:sym typeface="Courier Prime"/>
                </a:rPr>
                <a:t>1</a:t>
              </a:r>
              <a:r>
                <a:rPr lang="en-US" sz="2300">
                  <a:solidFill>
                    <a:srgbClr val="000000"/>
                  </a:solidFill>
                  <a:latin typeface="Courier Prime"/>
                  <a:ea typeface="Courier Prime"/>
                  <a:cs typeface="Courier Prime"/>
                  <a:sym typeface="Courier Prime"/>
                </a:rPr>
                <a:t> - ALPHA)</a:t>
              </a:r>
            </a:p>
            <a:p>
              <a:pPr algn="l">
                <a:lnSpc>
                  <a:spcPts val="3220"/>
                </a:lnSpc>
              </a:pPr>
            </a:p>
          </p:txBody>
        </p:sp>
      </p:grpSp>
      <p:sp>
        <p:nvSpPr>
          <p:cNvPr name="Freeform 18" id="18"/>
          <p:cNvSpPr/>
          <p:nvPr/>
        </p:nvSpPr>
        <p:spPr>
          <a:xfrm flipH="false" flipV="false" rot="0">
            <a:off x="9464040" y="3601246"/>
            <a:ext cx="8663529" cy="4277617"/>
          </a:xfrm>
          <a:custGeom>
            <a:avLst/>
            <a:gdLst/>
            <a:ahLst/>
            <a:cxnLst/>
            <a:rect r="r" b="b" t="t" l="l"/>
            <a:pathLst>
              <a:path h="4277617" w="8663529">
                <a:moveTo>
                  <a:pt x="0" y="0"/>
                </a:moveTo>
                <a:lnTo>
                  <a:pt x="8663529" y="0"/>
                </a:lnTo>
                <a:lnTo>
                  <a:pt x="8663529" y="4277617"/>
                </a:lnTo>
                <a:lnTo>
                  <a:pt x="0" y="4277617"/>
                </a:lnTo>
                <a:lnTo>
                  <a:pt x="0" y="0"/>
                </a:lnTo>
                <a:close/>
              </a:path>
            </a:pathLst>
          </a:custGeom>
          <a:blipFill>
            <a:blip r:embed="rId5"/>
            <a:stretch>
              <a:fillRect l="0" t="0" r="0" b="0"/>
            </a:stretch>
          </a:blipFill>
        </p:spPr>
      </p:sp>
      <p:sp>
        <p:nvSpPr>
          <p:cNvPr name="TextBox 19" id="19"/>
          <p:cNvSpPr txBox="true"/>
          <p:nvPr/>
        </p:nvSpPr>
        <p:spPr>
          <a:xfrm rot="0">
            <a:off x="5839301" y="1478709"/>
            <a:ext cx="7249478" cy="514350"/>
          </a:xfrm>
          <a:prstGeom prst="rect">
            <a:avLst/>
          </a:prstGeom>
        </p:spPr>
        <p:txBody>
          <a:bodyPr anchor="t" rtlCol="false" tIns="0" lIns="0" bIns="0" rIns="0">
            <a:spAutoFit/>
          </a:bodyPr>
          <a:lstStyle/>
          <a:p>
            <a:pPr algn="ctr">
              <a:lnSpc>
                <a:spcPts val="4200"/>
              </a:lnSpc>
            </a:pPr>
            <a:r>
              <a:rPr lang="en-US" sz="3000" i="true">
                <a:solidFill>
                  <a:srgbClr val="7D1916"/>
                </a:solidFill>
                <a:latin typeface="Canva Sans Italics"/>
                <a:ea typeface="Canva Sans Italics"/>
                <a:cs typeface="Canva Sans Italics"/>
                <a:sym typeface="Canva Sans Italics"/>
              </a:rPr>
              <a:t>Implemention: Defining Extreme Events</a:t>
            </a:r>
          </a:p>
        </p:txBody>
      </p:sp>
      <p:sp>
        <p:nvSpPr>
          <p:cNvPr name="TextBox 20" id="20"/>
          <p:cNvSpPr txBox="true"/>
          <p:nvPr/>
        </p:nvSpPr>
        <p:spPr>
          <a:xfrm rot="0">
            <a:off x="1547348" y="6618627"/>
            <a:ext cx="7475220" cy="3146043"/>
          </a:xfrm>
          <a:prstGeom prst="rect">
            <a:avLst/>
          </a:prstGeom>
        </p:spPr>
        <p:txBody>
          <a:bodyPr anchor="t" rtlCol="false" tIns="0" lIns="0" bIns="0" rIns="0">
            <a:spAutoFit/>
          </a:bodyPr>
          <a:lstStyle/>
          <a:p>
            <a:pPr algn="l">
              <a:lnSpc>
                <a:spcPts val="3132"/>
              </a:lnSpc>
            </a:pPr>
            <a:r>
              <a:rPr lang="en-US" sz="2900" b="true">
                <a:solidFill>
                  <a:srgbClr val="000000"/>
                </a:solidFill>
                <a:latin typeface="Canva Sans Bold"/>
                <a:ea typeface="Canva Sans Bold"/>
                <a:cs typeface="Canva Sans Bold"/>
                <a:sym typeface="Canva Sans Bold"/>
              </a:rPr>
              <a:t>Threshold Definition Approach:</a:t>
            </a:r>
          </a:p>
          <a:p>
            <a:pPr algn="l" marL="1079505" indent="-359835" lvl="2">
              <a:lnSpc>
                <a:spcPts val="2700"/>
              </a:lnSpc>
              <a:buFont typeface="Arial"/>
              <a:buChar char="⚬"/>
            </a:pPr>
            <a:r>
              <a:rPr lang="en-US" sz="2500">
                <a:solidFill>
                  <a:srgbClr val="000000"/>
                </a:solidFill>
                <a:latin typeface="Canva Sans"/>
                <a:ea typeface="Canva Sans"/>
                <a:cs typeface="Canva Sans"/>
                <a:sym typeface="Canva Sans"/>
              </a:rPr>
              <a:t>Extreme events defined using upper quantile </a:t>
            </a:r>
          </a:p>
          <a:p>
            <a:pPr algn="l" marL="1079505" indent="-359835" lvl="2">
              <a:lnSpc>
                <a:spcPts val="2700"/>
              </a:lnSpc>
              <a:buFont typeface="Arial"/>
              <a:buChar char="⚬"/>
            </a:pPr>
            <a:r>
              <a:rPr lang="en-US" sz="2500">
                <a:solidFill>
                  <a:srgbClr val="000000"/>
                </a:solidFill>
                <a:latin typeface="Canva Sans"/>
                <a:ea typeface="Canva Sans"/>
                <a:cs typeface="Canva Sans"/>
                <a:sym typeface="Canva Sans"/>
              </a:rPr>
              <a:t>             represents top 5% extreme values</a:t>
            </a:r>
          </a:p>
          <a:p>
            <a:pPr algn="l">
              <a:lnSpc>
                <a:spcPts val="2700"/>
              </a:lnSpc>
            </a:pPr>
          </a:p>
          <a:p>
            <a:pPr algn="l" marL="539753" indent="-269876" lvl="1">
              <a:lnSpc>
                <a:spcPts val="2700"/>
              </a:lnSpc>
              <a:buFont typeface="Arial"/>
              <a:buChar char="•"/>
            </a:pPr>
            <a:r>
              <a:rPr lang="en-US" b="true" sz="2500">
                <a:solidFill>
                  <a:srgbClr val="000000"/>
                </a:solidFill>
                <a:latin typeface="Canva Sans Bold"/>
                <a:ea typeface="Canva Sans Bold"/>
                <a:cs typeface="Canva Sans Bold"/>
                <a:sym typeface="Canva Sans Bold"/>
              </a:rPr>
              <a:t>Threshold computed using:</a:t>
            </a:r>
          </a:p>
          <a:p>
            <a:pPr algn="l" marL="1079505" indent="-359835" lvl="2">
              <a:lnSpc>
                <a:spcPts val="2700"/>
              </a:lnSpc>
              <a:buFont typeface="Arial"/>
              <a:buChar char="⚬"/>
            </a:pPr>
            <a:r>
              <a:rPr lang="en-US" sz="2500">
                <a:solidFill>
                  <a:srgbClr val="000000"/>
                </a:solidFill>
                <a:latin typeface="Canva Sans"/>
                <a:ea typeface="Canva Sans"/>
                <a:cs typeface="Canva Sans"/>
                <a:sym typeface="Canva Sans"/>
              </a:rPr>
              <a:t>Empirical data quantile</a:t>
            </a:r>
          </a:p>
          <a:p>
            <a:pPr algn="l" marL="1079505" indent="-359835" lvl="2">
              <a:lnSpc>
                <a:spcPts val="2700"/>
              </a:lnSpc>
              <a:buFont typeface="Arial"/>
              <a:buChar char="⚬"/>
            </a:pPr>
            <a:r>
              <a:rPr lang="en-US" sz="2500">
                <a:solidFill>
                  <a:srgbClr val="000000"/>
                </a:solidFill>
                <a:latin typeface="Canva Sans"/>
                <a:ea typeface="Canva Sans"/>
                <a:cs typeface="Canva Sans"/>
                <a:sym typeface="Canva Sans"/>
              </a:rPr>
              <a:t>Fitted probability distributions</a:t>
            </a:r>
          </a:p>
          <a:p>
            <a:pPr algn="l">
              <a:lnSpc>
                <a:spcPts val="2700"/>
              </a:lnSpc>
            </a:pPr>
          </a:p>
        </p:txBody>
      </p:sp>
      <p:sp>
        <p:nvSpPr>
          <p:cNvPr name="TextBox 21" id="21"/>
          <p:cNvSpPr txBox="true"/>
          <p:nvPr/>
        </p:nvSpPr>
        <p:spPr>
          <a:xfrm rot="0">
            <a:off x="1562581" y="2230911"/>
            <a:ext cx="2079188" cy="431799"/>
          </a:xfrm>
          <a:prstGeom prst="rect">
            <a:avLst/>
          </a:prstGeom>
        </p:spPr>
        <p:txBody>
          <a:bodyPr anchor="t" rtlCol="false" tIns="0" lIns="0" bIns="0" rIns="0">
            <a:spAutoFit/>
          </a:bodyPr>
          <a:lstStyle/>
          <a:p>
            <a:pPr algn="l">
              <a:lnSpc>
                <a:spcPts val="3500"/>
              </a:lnSpc>
            </a:pPr>
            <a:r>
              <a:rPr lang="en-US" sz="2500">
                <a:solidFill>
                  <a:srgbClr val="00BF63"/>
                </a:solidFill>
                <a:latin typeface="Canva Sans"/>
                <a:ea typeface="Canva Sans"/>
                <a:cs typeface="Canva Sans"/>
                <a:sym typeface="Canva Sans"/>
              </a:rPr>
              <a:t>Code Snippet</a:t>
            </a:r>
          </a:p>
        </p:txBody>
      </p:sp>
      <p:pic>
        <p:nvPicPr>
          <p:cNvPr name="Picture 22" id="22"/>
          <p:cNvPicPr>
            <a:picLocks noChangeAspect="true"/>
          </p:cNvPicPr>
          <p:nvPr/>
        </p:nvPicPr>
        <p:blipFill>
          <a:blip r:embed="rId6"/>
          <a:stretch>
            <a:fillRect/>
          </a:stretch>
        </p:blipFill>
        <p:spPr>
          <a:xfrm rot="0">
            <a:off x="3938748" y="7236681"/>
            <a:ext cx="1158622" cy="500796"/>
          </a:xfrm>
          <a:prstGeom prst="rect">
            <a:avLst/>
          </a:prstGeom>
        </p:spPr>
      </p:pic>
      <p:pic>
        <p:nvPicPr>
          <p:cNvPr name="Picture 23" id="23"/>
          <p:cNvPicPr>
            <a:picLocks noChangeAspect="true"/>
          </p:cNvPicPr>
          <p:nvPr/>
        </p:nvPicPr>
        <p:blipFill>
          <a:blip r:embed="rId7"/>
          <a:stretch>
            <a:fillRect/>
          </a:stretch>
        </p:blipFill>
        <p:spPr>
          <a:xfrm rot="0">
            <a:off x="2495924" y="7697330"/>
            <a:ext cx="1092216" cy="363066"/>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708993" y="467188"/>
            <a:ext cx="5510093" cy="1068671"/>
            <a:chOff x="0" y="0"/>
            <a:chExt cx="7346791" cy="1424895"/>
          </a:xfrm>
        </p:grpSpPr>
        <p:sp>
          <p:nvSpPr>
            <p:cNvPr name="Freeform 11" id="11"/>
            <p:cNvSpPr/>
            <p:nvPr/>
          </p:nvSpPr>
          <p:spPr>
            <a:xfrm flipH="false" flipV="false" rot="0">
              <a:off x="0" y="0"/>
              <a:ext cx="7346791" cy="1424896"/>
            </a:xfrm>
            <a:custGeom>
              <a:avLst/>
              <a:gdLst/>
              <a:ahLst/>
              <a:cxnLst/>
              <a:rect r="r" b="b" t="t" l="l"/>
              <a:pathLst>
                <a:path h="1424896" w="7346791">
                  <a:moveTo>
                    <a:pt x="0" y="0"/>
                  </a:moveTo>
                  <a:lnTo>
                    <a:pt x="7346791" y="0"/>
                  </a:lnTo>
                  <a:lnTo>
                    <a:pt x="7346791" y="1424896"/>
                  </a:lnTo>
                  <a:lnTo>
                    <a:pt x="0" y="1424896"/>
                  </a:lnTo>
                  <a:close/>
                </a:path>
              </a:pathLst>
            </a:custGeom>
            <a:blipFill>
              <a:blip r:embed="rId4">
                <a:alphaModFix amt="0"/>
              </a:blip>
              <a:stretch>
                <a:fillRect l="0" t="-194566" r="-186263" b="-280624"/>
              </a:stretch>
            </a:blipFill>
          </p:spPr>
        </p:sp>
        <p:sp>
          <p:nvSpPr>
            <p:cNvPr name="TextBox 12" id="12"/>
            <p:cNvSpPr txBox="true"/>
            <p:nvPr/>
          </p:nvSpPr>
          <p:spPr>
            <a:xfrm>
              <a:off x="0" y="47625"/>
              <a:ext cx="7346791"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Coding &amp; Simulation</a:t>
              </a:r>
            </a:p>
          </p:txBody>
        </p:sp>
      </p:grpSp>
      <p:grpSp>
        <p:nvGrpSpPr>
          <p:cNvPr name="Group 13" id="13"/>
          <p:cNvGrpSpPr/>
          <p:nvPr/>
        </p:nvGrpSpPr>
        <p:grpSpPr>
          <a:xfrm rot="0">
            <a:off x="1547348" y="2632320"/>
            <a:ext cx="7581419" cy="6863018"/>
            <a:chOff x="0" y="0"/>
            <a:chExt cx="10108559" cy="9150691"/>
          </a:xfrm>
        </p:grpSpPr>
        <p:grpSp>
          <p:nvGrpSpPr>
            <p:cNvPr name="Group 14" id="14"/>
            <p:cNvGrpSpPr/>
            <p:nvPr/>
          </p:nvGrpSpPr>
          <p:grpSpPr>
            <a:xfrm rot="0">
              <a:off x="0" y="0"/>
              <a:ext cx="10108559" cy="8885299"/>
              <a:chOff x="0" y="0"/>
              <a:chExt cx="1996752" cy="1755121"/>
            </a:xfrm>
          </p:grpSpPr>
          <p:sp>
            <p:nvSpPr>
              <p:cNvPr name="Freeform 15" id="15"/>
              <p:cNvSpPr/>
              <p:nvPr/>
            </p:nvSpPr>
            <p:spPr>
              <a:xfrm flipH="false" flipV="false" rot="0">
                <a:off x="0" y="0"/>
                <a:ext cx="1996752" cy="1755121"/>
              </a:xfrm>
              <a:custGeom>
                <a:avLst/>
                <a:gdLst/>
                <a:ahLst/>
                <a:cxnLst/>
                <a:rect r="r" b="b" t="t" l="l"/>
                <a:pathLst>
                  <a:path h="1755121" w="1996752">
                    <a:moveTo>
                      <a:pt x="52080" y="0"/>
                    </a:moveTo>
                    <a:lnTo>
                      <a:pt x="1944673" y="0"/>
                    </a:lnTo>
                    <a:cubicBezTo>
                      <a:pt x="1958485" y="0"/>
                      <a:pt x="1971732" y="5487"/>
                      <a:pt x="1981499" y="15254"/>
                    </a:cubicBezTo>
                    <a:cubicBezTo>
                      <a:pt x="1991265" y="25021"/>
                      <a:pt x="1996752" y="38267"/>
                      <a:pt x="1996752" y="52080"/>
                    </a:cubicBezTo>
                    <a:lnTo>
                      <a:pt x="1996752" y="1703041"/>
                    </a:lnTo>
                    <a:cubicBezTo>
                      <a:pt x="1996752" y="1716854"/>
                      <a:pt x="1991265" y="1730100"/>
                      <a:pt x="1981499" y="1739867"/>
                    </a:cubicBezTo>
                    <a:cubicBezTo>
                      <a:pt x="1971732" y="1749634"/>
                      <a:pt x="1958485" y="1755121"/>
                      <a:pt x="1944673" y="1755121"/>
                    </a:cubicBezTo>
                    <a:lnTo>
                      <a:pt x="52080" y="1755121"/>
                    </a:lnTo>
                    <a:cubicBezTo>
                      <a:pt x="38267" y="1755121"/>
                      <a:pt x="25021" y="1749634"/>
                      <a:pt x="15254" y="1739867"/>
                    </a:cubicBezTo>
                    <a:cubicBezTo>
                      <a:pt x="5487" y="1730100"/>
                      <a:pt x="0" y="1716854"/>
                      <a:pt x="0" y="1703041"/>
                    </a:cubicBezTo>
                    <a:lnTo>
                      <a:pt x="0" y="52080"/>
                    </a:lnTo>
                    <a:cubicBezTo>
                      <a:pt x="0" y="38267"/>
                      <a:pt x="5487" y="25021"/>
                      <a:pt x="15254" y="15254"/>
                    </a:cubicBezTo>
                    <a:cubicBezTo>
                      <a:pt x="25021" y="5487"/>
                      <a:pt x="38267" y="0"/>
                      <a:pt x="52080" y="0"/>
                    </a:cubicBezTo>
                    <a:close/>
                  </a:path>
                </a:pathLst>
              </a:custGeom>
              <a:solidFill>
                <a:srgbClr val="B4B4B4"/>
              </a:solidFill>
            </p:spPr>
          </p:sp>
          <p:sp>
            <p:nvSpPr>
              <p:cNvPr name="TextBox 16" id="16"/>
              <p:cNvSpPr txBox="true"/>
              <p:nvPr/>
            </p:nvSpPr>
            <p:spPr>
              <a:xfrm>
                <a:off x="0" y="-38100"/>
                <a:ext cx="1996752" cy="1793221"/>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346432" y="94110"/>
              <a:ext cx="9546539" cy="9056581"/>
            </a:xfrm>
            <a:prstGeom prst="rect">
              <a:avLst/>
            </a:prstGeom>
          </p:spPr>
          <p:txBody>
            <a:bodyPr anchor="t" rtlCol="false" tIns="0" lIns="0" bIns="0" rIns="0">
              <a:spAutoFit/>
            </a:bodyPr>
            <a:lstStyle/>
            <a:p>
              <a:pPr algn="l">
                <a:lnSpc>
                  <a:spcPts val="3220"/>
                </a:lnSpc>
              </a:pPr>
              <a:r>
                <a:rPr lang="en-US" sz="2300">
                  <a:solidFill>
                    <a:srgbClr val="000000"/>
                  </a:solidFill>
                  <a:latin typeface="Courier Prime"/>
                  <a:ea typeface="Courier Prime"/>
                  <a:cs typeface="Courier Prime"/>
                  <a:sym typeface="Courier Prime"/>
                </a:rPr>
                <a:t>M = </a:t>
              </a:r>
              <a:r>
                <a:rPr lang="en-US" sz="2300">
                  <a:solidFill>
                    <a:srgbClr val="E8070E"/>
                  </a:solidFill>
                  <a:latin typeface="Courier Prime"/>
                  <a:ea typeface="Courier Prime"/>
                  <a:cs typeface="Courier Prime"/>
                  <a:sym typeface="Courier Prime"/>
                </a:rPr>
                <a:t>50</a:t>
              </a:r>
            </a:p>
            <a:p>
              <a:pPr algn="l">
                <a:lnSpc>
                  <a:spcPts val="3220"/>
                </a:lnSpc>
              </a:pPr>
              <a:r>
                <a:rPr lang="en-US" sz="2300">
                  <a:solidFill>
                    <a:srgbClr val="000000"/>
                  </a:solidFill>
                  <a:latin typeface="Courier Prime"/>
                  <a:ea typeface="Courier Prime"/>
                  <a:cs typeface="Courier Prime"/>
                  <a:sym typeface="Courier Prime"/>
                </a:rPr>
                <a:t>np.random.seed(</a:t>
              </a:r>
              <a:r>
                <a:rPr lang="en-US" sz="2300">
                  <a:solidFill>
                    <a:srgbClr val="E8070E"/>
                  </a:solidFill>
                  <a:latin typeface="Courier Prime"/>
                  <a:ea typeface="Courier Prime"/>
                  <a:cs typeface="Courier Prime"/>
                  <a:sym typeface="Courier Prime"/>
                </a:rPr>
                <a:t>42</a:t>
              </a:r>
              <a:r>
                <a:rPr lang="en-US" sz="2300">
                  <a:solidFill>
                    <a:srgbClr val="000000"/>
                  </a:solidFill>
                  <a:latin typeface="Courier Prime"/>
                  <a:ea typeface="Courier Prime"/>
                  <a:cs typeface="Courier Prime"/>
                  <a:sym typeface="Courier Prime"/>
                </a:rPr>
                <a:t>)</a:t>
              </a:r>
            </a:p>
            <a:p>
              <a:pPr algn="l">
                <a:lnSpc>
                  <a:spcPts val="3220"/>
                </a:lnSpc>
              </a:pPr>
            </a:p>
            <a:p>
              <a:pPr algn="l">
                <a:lnSpc>
                  <a:spcPts val="3220"/>
                </a:lnSpc>
              </a:pPr>
              <a:r>
                <a:rPr lang="en-US" sz="2300">
                  <a:solidFill>
                    <a:srgbClr val="000000"/>
                  </a:solidFill>
                  <a:latin typeface="Courier Prime"/>
                  <a:ea typeface="Courier Prime"/>
                  <a:cs typeface="Courier Prime"/>
                  <a:sym typeface="Courier Prime"/>
                </a:rPr>
                <a:t>sigma_perturbation = </a:t>
              </a:r>
              <a:r>
                <a:rPr lang="en-US" sz="2300">
                  <a:solidFill>
                    <a:srgbClr val="E8070E"/>
                  </a:solidFill>
                  <a:latin typeface="Courier Prime"/>
                  <a:ea typeface="Courier Prime"/>
                  <a:cs typeface="Courier Prime"/>
                  <a:sym typeface="Courier Prime"/>
                </a:rPr>
                <a:t>0.10</a:t>
              </a:r>
              <a:r>
                <a:rPr lang="en-US" sz="2300">
                  <a:solidFill>
                    <a:srgbClr val="000000"/>
                  </a:solidFill>
                  <a:latin typeface="Courier Prime"/>
                  <a:ea typeface="Courier Prime"/>
                  <a:cs typeface="Courier Prime"/>
                  <a:sym typeface="Courier Prime"/>
                </a:rPr>
                <a:t> * ANNUAL.std() </a:t>
              </a:r>
              <a:r>
                <a:rPr lang="en-US" sz="2300">
                  <a:solidFill>
                    <a:srgbClr val="CC007E"/>
                  </a:solidFill>
                  <a:latin typeface="Courier Prime"/>
                  <a:ea typeface="Courier Prime"/>
                  <a:cs typeface="Courier Prime"/>
                  <a:sym typeface="Courier Prime"/>
                </a:rPr>
                <a:t># perturbation scale ~107 mm</a:t>
              </a:r>
            </a:p>
            <a:p>
              <a:pPr algn="l">
                <a:lnSpc>
                  <a:spcPts val="3220"/>
                </a:lnSpc>
              </a:pPr>
            </a:p>
            <a:p>
              <a:pPr algn="l">
                <a:lnSpc>
                  <a:spcPts val="3220"/>
                </a:lnSpc>
              </a:pPr>
              <a:r>
                <a:rPr lang="en-US" sz="2300">
                  <a:solidFill>
                    <a:srgbClr val="000000"/>
                  </a:solidFill>
                  <a:latin typeface="Courier Prime"/>
                  <a:ea typeface="Courier Prime"/>
                  <a:cs typeface="Courier Prime"/>
                  <a:sym typeface="Courier Prime"/>
                </a:rPr>
                <a:t>ensemble = np.zeros((n, M))</a:t>
              </a:r>
            </a:p>
            <a:p>
              <a:pPr algn="l">
                <a:lnSpc>
                  <a:spcPts val="3220"/>
                </a:lnSpc>
              </a:pPr>
              <a:r>
                <a:rPr lang="en-US" sz="2300">
                  <a:solidFill>
                    <a:srgbClr val="5170FF"/>
                  </a:solidFill>
                  <a:latin typeface="Courier Prime"/>
                  <a:ea typeface="Courier Prime"/>
                  <a:cs typeface="Courier Prime"/>
                  <a:sym typeface="Courier Prime"/>
                </a:rPr>
                <a:t>for</a:t>
              </a:r>
              <a:r>
                <a:rPr lang="en-US" sz="2300">
                  <a:solidFill>
                    <a:srgbClr val="000000"/>
                  </a:solidFill>
                  <a:latin typeface="Courier Prime"/>
                  <a:ea typeface="Courier Prime"/>
                  <a:cs typeface="Courier Prime"/>
                  <a:sym typeface="Courier Prime"/>
                </a:rPr>
                <a:t> i </a:t>
              </a:r>
              <a:r>
                <a:rPr lang="en-US" sz="2300">
                  <a:solidFill>
                    <a:srgbClr val="5170FF"/>
                  </a:solidFill>
                  <a:latin typeface="Courier Prime"/>
                  <a:ea typeface="Courier Prime"/>
                  <a:cs typeface="Courier Prime"/>
                  <a:sym typeface="Courier Prime"/>
                </a:rPr>
                <a:t>in range</a:t>
              </a:r>
              <a:r>
                <a:rPr lang="en-US" sz="2300">
                  <a:solidFill>
                    <a:srgbClr val="000000"/>
                  </a:solidFill>
                  <a:latin typeface="Courier Prime"/>
                  <a:ea typeface="Courier Prime"/>
                  <a:cs typeface="Courier Prime"/>
                  <a:sym typeface="Courier Prime"/>
                </a:rPr>
                <a:t>(M):</a:t>
              </a:r>
            </a:p>
            <a:p>
              <a:pPr algn="l">
                <a:lnSpc>
                  <a:spcPts val="3220"/>
                </a:lnSpc>
              </a:pPr>
              <a:r>
                <a:rPr lang="en-US" sz="2300">
                  <a:solidFill>
                    <a:srgbClr val="000000"/>
                  </a:solidFill>
                  <a:latin typeface="Courier Prime"/>
                  <a:ea typeface="Courier Prime"/>
                  <a:cs typeface="Courier Prime"/>
                  <a:sym typeface="Courier Prime"/>
                </a:rPr>
                <a:t>    eta      = np.random.normal(</a:t>
              </a:r>
              <a:r>
                <a:rPr lang="en-US" sz="2300">
                  <a:solidFill>
                    <a:srgbClr val="E8070E"/>
                  </a:solidFill>
                  <a:latin typeface="Courier Prime"/>
                  <a:ea typeface="Courier Prime"/>
                  <a:cs typeface="Courier Prime"/>
                  <a:sym typeface="Courier Prime"/>
                </a:rPr>
                <a:t>0</a:t>
              </a:r>
              <a:r>
                <a:rPr lang="en-US" sz="2300">
                  <a:solidFill>
                    <a:srgbClr val="000000"/>
                  </a:solidFill>
                  <a:latin typeface="Courier Prime"/>
                  <a:ea typeface="Courier Prime"/>
                  <a:cs typeface="Courier Prime"/>
                  <a:sym typeface="Courier Prime"/>
                </a:rPr>
                <a:t>, </a:t>
              </a:r>
              <a:r>
                <a:rPr lang="en-US" sz="2300">
                  <a:solidFill>
                    <a:srgbClr val="E8070E"/>
                  </a:solidFill>
                  <a:latin typeface="Courier Prime"/>
                  <a:ea typeface="Courier Prime"/>
                  <a:cs typeface="Courier Prime"/>
                  <a:sym typeface="Courier Prime"/>
                </a:rPr>
                <a:t>1</a:t>
              </a:r>
              <a:r>
                <a:rPr lang="en-US" sz="2300">
                  <a:solidFill>
                    <a:srgbClr val="000000"/>
                  </a:solidFill>
                  <a:latin typeface="Courier Prime"/>
                  <a:ea typeface="Courier Prime"/>
                  <a:cs typeface="Courier Prime"/>
                  <a:sym typeface="Courier Prime"/>
                </a:rPr>
                <a:t>, n) </a:t>
              </a:r>
              <a:r>
                <a:rPr lang="en-US" sz="2300">
                  <a:solidFill>
                    <a:srgbClr val="CC007E"/>
                  </a:solidFill>
                  <a:latin typeface="Courier Prime"/>
                  <a:ea typeface="Courier Prime"/>
                  <a:cs typeface="Courier Prime"/>
                  <a:sym typeface="Courier Prime"/>
                </a:rPr>
                <a:t># η ~ N(0,1) per year</a:t>
              </a:r>
            </a:p>
            <a:p>
              <a:pPr algn="l">
                <a:lnSpc>
                  <a:spcPts val="3220"/>
                </a:lnSpc>
              </a:pPr>
              <a:r>
                <a:rPr lang="en-US" sz="2300">
                  <a:solidFill>
                    <a:srgbClr val="000000"/>
                  </a:solidFill>
                  <a:latin typeface="Courier Prime"/>
                  <a:ea typeface="Courier Prime"/>
                  <a:cs typeface="Courier Prime"/>
                  <a:sym typeface="Courier Prime"/>
                </a:rPr>
                <a:t>    ensemble[:, i] = ANNUAL + sigma_perturbation * eta</a:t>
              </a:r>
            </a:p>
            <a:p>
              <a:pPr algn="l">
                <a:lnSpc>
                  <a:spcPts val="3220"/>
                </a:lnSpc>
              </a:pPr>
            </a:p>
            <a:p>
              <a:pPr algn="l">
                <a:lnSpc>
                  <a:spcPts val="3220"/>
                </a:lnSpc>
              </a:pPr>
              <a:r>
                <a:rPr lang="en-US" sz="2300">
                  <a:solidFill>
                    <a:srgbClr val="CC007E"/>
                  </a:solidFill>
                  <a:latin typeface="Courier Prime"/>
                  <a:ea typeface="Courier Prime"/>
                  <a:cs typeface="Courier Prime"/>
                  <a:sym typeface="Courier Prime"/>
                </a:rPr>
                <a:t># Ensemble summary </a:t>
              </a:r>
            </a:p>
            <a:p>
              <a:pPr algn="l">
                <a:lnSpc>
                  <a:spcPts val="3220"/>
                </a:lnSpc>
              </a:pPr>
              <a:r>
                <a:rPr lang="en-US" sz="2300">
                  <a:solidFill>
                    <a:srgbClr val="000000"/>
                  </a:solidFill>
                  <a:latin typeface="Courier Prime"/>
                  <a:ea typeface="Courier Prime"/>
                  <a:cs typeface="Courier Prime"/>
                  <a:sym typeface="Courier Prime"/>
                </a:rPr>
                <a:t>ens_all_mean = ensemble.mean()</a:t>
              </a:r>
            </a:p>
            <a:p>
              <a:pPr algn="l">
                <a:lnSpc>
                  <a:spcPts val="3220"/>
                </a:lnSpc>
              </a:pPr>
              <a:r>
                <a:rPr lang="en-US" sz="2300">
                  <a:solidFill>
                    <a:srgbClr val="000000"/>
                  </a:solidFill>
                  <a:latin typeface="Courier Prime"/>
                  <a:ea typeface="Courier Prime"/>
                  <a:cs typeface="Courier Prime"/>
                  <a:sym typeface="Courier Prime"/>
                </a:rPr>
                <a:t>ens_all_std = ensemble.std()</a:t>
              </a:r>
            </a:p>
            <a:p>
              <a:pPr algn="l">
                <a:lnSpc>
                  <a:spcPts val="3220"/>
                </a:lnSpc>
              </a:pPr>
            </a:p>
          </p:txBody>
        </p:sp>
      </p:grpSp>
      <p:sp>
        <p:nvSpPr>
          <p:cNvPr name="TextBox 18" id="18"/>
          <p:cNvSpPr txBox="true"/>
          <p:nvPr/>
        </p:nvSpPr>
        <p:spPr>
          <a:xfrm rot="0">
            <a:off x="3505021" y="1478709"/>
            <a:ext cx="11918038" cy="514350"/>
          </a:xfrm>
          <a:prstGeom prst="rect">
            <a:avLst/>
          </a:prstGeom>
        </p:spPr>
        <p:txBody>
          <a:bodyPr anchor="t" rtlCol="false" tIns="0" lIns="0" bIns="0" rIns="0">
            <a:spAutoFit/>
          </a:bodyPr>
          <a:lstStyle/>
          <a:p>
            <a:pPr algn="ctr">
              <a:lnSpc>
                <a:spcPts val="4200"/>
              </a:lnSpc>
            </a:pPr>
            <a:r>
              <a:rPr lang="en-US" sz="3000" i="true">
                <a:solidFill>
                  <a:srgbClr val="7D1916"/>
                </a:solidFill>
                <a:latin typeface="Canva Sans Italics"/>
                <a:ea typeface="Canva Sans Italics"/>
                <a:cs typeface="Canva Sans Italics"/>
                <a:sym typeface="Canva Sans Italics"/>
              </a:rPr>
              <a:t>Implemention: Randomized Simulation using Ensemble Modeling</a:t>
            </a:r>
          </a:p>
        </p:txBody>
      </p:sp>
      <p:sp>
        <p:nvSpPr>
          <p:cNvPr name="TextBox 19" id="19"/>
          <p:cNvSpPr txBox="true"/>
          <p:nvPr/>
        </p:nvSpPr>
        <p:spPr>
          <a:xfrm rot="0">
            <a:off x="9652699" y="2660895"/>
            <a:ext cx="7475220" cy="6279513"/>
          </a:xfrm>
          <a:prstGeom prst="rect">
            <a:avLst/>
          </a:prstGeom>
        </p:spPr>
        <p:txBody>
          <a:bodyPr anchor="t" rtlCol="false" tIns="0" lIns="0" bIns="0" rIns="0">
            <a:spAutoFit/>
          </a:bodyPr>
          <a:lstStyle/>
          <a:p>
            <a:pPr algn="l">
              <a:lnSpc>
                <a:spcPts val="3132"/>
              </a:lnSpc>
            </a:pPr>
            <a:r>
              <a:rPr lang="en-US" sz="2900" b="true">
                <a:solidFill>
                  <a:srgbClr val="000000"/>
                </a:solidFill>
                <a:latin typeface="Canva Sans Bold"/>
                <a:ea typeface="Canva Sans Bold"/>
                <a:cs typeface="Canva Sans Bold"/>
                <a:sym typeface="Canva Sans Bold"/>
              </a:rPr>
              <a:t>Simulation Setup:</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Generated M = 50 simulations for each data point</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Added Gaussian noise: </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Perturbation scaled using data variability</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Reproducibility ensured using fixed random seed</a:t>
            </a:r>
          </a:p>
          <a:p>
            <a:pPr algn="l">
              <a:lnSpc>
                <a:spcPts val="2700"/>
              </a:lnSpc>
            </a:pPr>
          </a:p>
          <a:p>
            <a:pPr algn="l">
              <a:lnSpc>
                <a:spcPts val="3132"/>
              </a:lnSpc>
            </a:pPr>
            <a:r>
              <a:rPr lang="en-US" sz="2900" b="true">
                <a:solidFill>
                  <a:srgbClr val="000000"/>
                </a:solidFill>
                <a:latin typeface="Canva Sans Bold"/>
                <a:ea typeface="Canva Sans Bold"/>
                <a:cs typeface="Canva Sans Bold"/>
                <a:sym typeface="Canva Sans Bold"/>
              </a:rPr>
              <a:t>Randomized Modeling Approach:</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Instead of a single value, generate multiple possible outcomes</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Captures uncertainty in real-world data</a:t>
            </a:r>
          </a:p>
          <a:p>
            <a:pPr algn="l" marL="539753" indent="-269876" lvl="1">
              <a:lnSpc>
                <a:spcPts val="2700"/>
              </a:lnSpc>
              <a:buFont typeface="Arial"/>
              <a:buChar char="•"/>
            </a:pPr>
            <a:r>
              <a:rPr lang="en-US" sz="2500">
                <a:solidFill>
                  <a:srgbClr val="000000"/>
                </a:solidFill>
                <a:latin typeface="Canva Sans"/>
                <a:ea typeface="Canva Sans"/>
                <a:cs typeface="Canva Sans"/>
                <a:sym typeface="Canva Sans"/>
              </a:rPr>
              <a:t>Models variability in extreme event behavior</a:t>
            </a:r>
          </a:p>
          <a:p>
            <a:pPr algn="l">
              <a:lnSpc>
                <a:spcPts val="2700"/>
              </a:lnSpc>
            </a:pPr>
          </a:p>
          <a:p>
            <a:pPr algn="l">
              <a:lnSpc>
                <a:spcPts val="2700"/>
              </a:lnSpc>
            </a:pPr>
            <a:r>
              <a:rPr lang="en-US" sz="2500">
                <a:solidFill>
                  <a:srgbClr val="000000"/>
                </a:solidFill>
                <a:latin typeface="Canva Sans"/>
                <a:ea typeface="Canva Sans"/>
                <a:cs typeface="Canva Sans"/>
                <a:sym typeface="Canva Sans"/>
              </a:rPr>
              <a:t>We simulate multiple possible realizations using stochastic perturbations to capture uncertainty in extreme event prediction.</a:t>
            </a:r>
          </a:p>
          <a:p>
            <a:pPr algn="l">
              <a:lnSpc>
                <a:spcPts val="2700"/>
              </a:lnSpc>
            </a:pPr>
          </a:p>
        </p:txBody>
      </p:sp>
      <p:sp>
        <p:nvSpPr>
          <p:cNvPr name="TextBox 20" id="20"/>
          <p:cNvSpPr txBox="true"/>
          <p:nvPr/>
        </p:nvSpPr>
        <p:spPr>
          <a:xfrm rot="0">
            <a:off x="1562581" y="2068215"/>
            <a:ext cx="2079188" cy="431799"/>
          </a:xfrm>
          <a:prstGeom prst="rect">
            <a:avLst/>
          </a:prstGeom>
        </p:spPr>
        <p:txBody>
          <a:bodyPr anchor="t" rtlCol="false" tIns="0" lIns="0" bIns="0" rIns="0">
            <a:spAutoFit/>
          </a:bodyPr>
          <a:lstStyle/>
          <a:p>
            <a:pPr algn="l">
              <a:lnSpc>
                <a:spcPts val="3500"/>
              </a:lnSpc>
            </a:pPr>
            <a:r>
              <a:rPr lang="en-US" sz="2500">
                <a:solidFill>
                  <a:srgbClr val="00BF63"/>
                </a:solidFill>
                <a:latin typeface="Canva Sans"/>
                <a:ea typeface="Canva Sans"/>
                <a:cs typeface="Canva Sans"/>
                <a:sym typeface="Canva Sans"/>
              </a:rPr>
              <a:t>Code Snippet</a:t>
            </a:r>
          </a:p>
        </p:txBody>
      </p:sp>
      <p:pic>
        <p:nvPicPr>
          <p:cNvPr name="Picture 21" id="21"/>
          <p:cNvPicPr>
            <a:picLocks noChangeAspect="true"/>
          </p:cNvPicPr>
          <p:nvPr/>
        </p:nvPicPr>
        <p:blipFill>
          <a:blip r:embed="rId5"/>
          <a:stretch>
            <a:fillRect/>
          </a:stretch>
        </p:blipFill>
        <p:spPr>
          <a:xfrm rot="0">
            <a:off x="13616476" y="3563382"/>
            <a:ext cx="1809655" cy="607436"/>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8133661" y="467188"/>
            <a:ext cx="2020678" cy="1068671"/>
            <a:chOff x="0" y="0"/>
            <a:chExt cx="2694237" cy="1424895"/>
          </a:xfrm>
        </p:grpSpPr>
        <p:sp>
          <p:nvSpPr>
            <p:cNvPr name="Freeform 11" id="11"/>
            <p:cNvSpPr/>
            <p:nvPr/>
          </p:nvSpPr>
          <p:spPr>
            <a:xfrm flipH="false" flipV="false" rot="0">
              <a:off x="0" y="0"/>
              <a:ext cx="2694237" cy="1424896"/>
            </a:xfrm>
            <a:custGeom>
              <a:avLst/>
              <a:gdLst/>
              <a:ahLst/>
              <a:cxnLst/>
              <a:rect r="r" b="b" t="t" l="l"/>
              <a:pathLst>
                <a:path h="1424896" w="2694237">
                  <a:moveTo>
                    <a:pt x="0" y="0"/>
                  </a:moveTo>
                  <a:lnTo>
                    <a:pt x="2694237" y="0"/>
                  </a:lnTo>
                  <a:lnTo>
                    <a:pt x="2694237" y="1424896"/>
                  </a:lnTo>
                  <a:lnTo>
                    <a:pt x="0" y="1424896"/>
                  </a:lnTo>
                  <a:close/>
                </a:path>
              </a:pathLst>
            </a:custGeom>
            <a:blipFill>
              <a:blip r:embed="rId4">
                <a:alphaModFix amt="0"/>
              </a:blip>
              <a:stretch>
                <a:fillRect l="0" t="-194566" r="-680599" b="-280624"/>
              </a:stretch>
            </a:blipFill>
          </p:spPr>
        </p:sp>
        <p:sp>
          <p:nvSpPr>
            <p:cNvPr name="TextBox 12" id="12"/>
            <p:cNvSpPr txBox="true"/>
            <p:nvPr/>
          </p:nvSpPr>
          <p:spPr>
            <a:xfrm>
              <a:off x="0" y="47625"/>
              <a:ext cx="2694237"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Results</a:t>
              </a:r>
            </a:p>
          </p:txBody>
        </p:sp>
      </p:grpSp>
      <p:graphicFrame>
        <p:nvGraphicFramePr>
          <p:cNvPr name="Table 13" id="13"/>
          <p:cNvGraphicFramePr>
            <a:graphicFrameLocks noGrp="true"/>
          </p:cNvGraphicFramePr>
          <p:nvPr/>
        </p:nvGraphicFramePr>
        <p:xfrm>
          <a:off x="974247" y="1981343"/>
          <a:ext cx="5847661" cy="6896100"/>
        </p:xfrm>
        <a:graphic>
          <a:graphicData uri="http://schemas.openxmlformats.org/drawingml/2006/table">
            <a:tbl>
              <a:tblPr/>
              <a:tblGrid>
                <a:gridCol w="2960382"/>
                <a:gridCol w="2887279"/>
              </a:tblGrid>
              <a:tr h="1484577">
                <a:tc>
                  <a:txBody>
                    <a:bodyPr anchor="t" rtlCol="false"/>
                    <a:lstStyle/>
                    <a:p>
                      <a:pPr algn="ctr">
                        <a:lnSpc>
                          <a:spcPts val="3919"/>
                        </a:lnSpc>
                        <a:defRPr/>
                      </a:pPr>
                      <a:r>
                        <a:rPr lang="en-US" sz="2799" b="true">
                          <a:solidFill>
                            <a:srgbClr val="000000"/>
                          </a:solidFill>
                          <a:latin typeface="Canva Sans Bold"/>
                          <a:ea typeface="Canva Sans Bold"/>
                          <a:cs typeface="Canva Sans Bold"/>
                          <a:sym typeface="Canva Sans Bold"/>
                        </a:rPr>
                        <a:t>Deterministic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Canva Sans Bold"/>
                          <a:ea typeface="Canva Sans Bold"/>
                          <a:cs typeface="Canva Sans Bold"/>
                          <a:sym typeface="Canva Sans Bold"/>
                        </a:rPr>
                        <a:t>Randomized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707">
                <a:tc>
                  <a:txBody>
                    <a:bodyPr anchor="t" rtlCol="false"/>
                    <a:lstStyle/>
                    <a:p>
                      <a:pPr algn="l">
                        <a:lnSpc>
                          <a:spcPts val="3079"/>
                        </a:lnSpc>
                        <a:defRPr/>
                      </a:pPr>
                      <a:r>
                        <a:rPr lang="en-US" sz="2199">
                          <a:solidFill>
                            <a:srgbClr val="000000"/>
                          </a:solidFill>
                          <a:latin typeface="Canva Sans"/>
                          <a:ea typeface="Canva Sans"/>
                          <a:cs typeface="Canva Sans"/>
                          <a:sym typeface="Canva Sans"/>
                        </a:rPr>
                        <a:t>Fixed output for given 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Canva Sans"/>
                          <a:ea typeface="Canva Sans"/>
                          <a:cs typeface="Canva Sans"/>
                          <a:sym typeface="Canva Sans"/>
                        </a:rPr>
                        <a:t>Multiple possible outcomes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47402">
                <a:tc>
                  <a:txBody>
                    <a:bodyPr anchor="t" rtlCol="false"/>
                    <a:lstStyle/>
                    <a:p>
                      <a:pPr algn="l">
                        <a:lnSpc>
                          <a:spcPts val="3079"/>
                        </a:lnSpc>
                        <a:defRPr/>
                      </a:pPr>
                      <a:r>
                        <a:rPr lang="en-US" sz="2199">
                          <a:solidFill>
                            <a:srgbClr val="000000"/>
                          </a:solidFill>
                          <a:latin typeface="Canva Sans"/>
                          <a:ea typeface="Canva Sans"/>
                          <a:cs typeface="Canva Sans"/>
                          <a:sym typeface="Canva Sans"/>
                        </a:rPr>
                        <a:t>Poor at handling uncertainty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Canva Sans"/>
                          <a:ea typeface="Canva Sans"/>
                          <a:cs typeface="Canva Sans"/>
                          <a:sym typeface="Canva Sans"/>
                        </a:rPr>
                        <a:t>Models uncertainty effectively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707">
                <a:tc>
                  <a:txBody>
                    <a:bodyPr anchor="t" rtlCol="false"/>
                    <a:lstStyle/>
                    <a:p>
                      <a:pPr algn="l">
                        <a:lnSpc>
                          <a:spcPts val="3079"/>
                        </a:lnSpc>
                        <a:defRPr/>
                      </a:pPr>
                      <a:r>
                        <a:rPr lang="en-US" sz="2199">
                          <a:solidFill>
                            <a:srgbClr val="000000"/>
                          </a:solidFill>
                          <a:latin typeface="Canva Sans"/>
                          <a:ea typeface="Canva Sans"/>
                          <a:cs typeface="Canva Sans"/>
                          <a:sym typeface="Canva Sans"/>
                        </a:rPr>
                        <a:t>Fixed ensemble spread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Canva Sans"/>
                          <a:ea typeface="Canva Sans"/>
                          <a:cs typeface="Canva Sans"/>
                          <a:sym typeface="Canva Sans"/>
                        </a:rPr>
                        <a:t>Dynamic, realistic spread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707">
                <a:tc>
                  <a:txBody>
                    <a:bodyPr anchor="t" rtlCol="false"/>
                    <a:lstStyle/>
                    <a:p>
                      <a:pPr algn="l">
                        <a:lnSpc>
                          <a:spcPts val="3079"/>
                        </a:lnSpc>
                        <a:defRPr/>
                      </a:pPr>
                      <a:r>
                        <a:rPr lang="en-US" sz="2199">
                          <a:solidFill>
                            <a:srgbClr val="000000"/>
                          </a:solidFill>
                          <a:latin typeface="Canva Sans"/>
                          <a:ea typeface="Canva Sans"/>
                          <a:cs typeface="Canva Sans"/>
                          <a:sym typeface="Canva Sans"/>
                        </a:rPr>
                        <a:t>High accuracy (misleading)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Canva Sans"/>
                          <a:ea typeface="Canva Sans"/>
                          <a:cs typeface="Canva Sans"/>
                          <a:sym typeface="Canva Sans"/>
                        </a:rPr>
                        <a:t>Better probability estimates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14" id="14"/>
          <p:cNvSpPr/>
          <p:nvPr/>
        </p:nvSpPr>
        <p:spPr>
          <a:xfrm flipH="false" flipV="false" rot="0">
            <a:off x="7235792" y="3138725"/>
            <a:ext cx="10383292" cy="3690368"/>
          </a:xfrm>
          <a:custGeom>
            <a:avLst/>
            <a:gdLst/>
            <a:ahLst/>
            <a:cxnLst/>
            <a:rect r="r" b="b" t="t" l="l"/>
            <a:pathLst>
              <a:path h="3690368" w="10383292">
                <a:moveTo>
                  <a:pt x="0" y="0"/>
                </a:moveTo>
                <a:lnTo>
                  <a:pt x="10383292" y="0"/>
                </a:lnTo>
                <a:lnTo>
                  <a:pt x="10383292" y="3690368"/>
                </a:lnTo>
                <a:lnTo>
                  <a:pt x="0" y="3690368"/>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8133661" y="467188"/>
            <a:ext cx="2020678" cy="1068671"/>
            <a:chOff x="0" y="0"/>
            <a:chExt cx="2694237" cy="1424895"/>
          </a:xfrm>
        </p:grpSpPr>
        <p:sp>
          <p:nvSpPr>
            <p:cNvPr name="Freeform 11" id="11"/>
            <p:cNvSpPr/>
            <p:nvPr/>
          </p:nvSpPr>
          <p:spPr>
            <a:xfrm flipH="false" flipV="false" rot="0">
              <a:off x="0" y="0"/>
              <a:ext cx="2694237" cy="1424896"/>
            </a:xfrm>
            <a:custGeom>
              <a:avLst/>
              <a:gdLst/>
              <a:ahLst/>
              <a:cxnLst/>
              <a:rect r="r" b="b" t="t" l="l"/>
              <a:pathLst>
                <a:path h="1424896" w="2694237">
                  <a:moveTo>
                    <a:pt x="0" y="0"/>
                  </a:moveTo>
                  <a:lnTo>
                    <a:pt x="2694237" y="0"/>
                  </a:lnTo>
                  <a:lnTo>
                    <a:pt x="2694237" y="1424896"/>
                  </a:lnTo>
                  <a:lnTo>
                    <a:pt x="0" y="1424896"/>
                  </a:lnTo>
                  <a:close/>
                </a:path>
              </a:pathLst>
            </a:custGeom>
            <a:blipFill>
              <a:blip r:embed="rId4">
                <a:alphaModFix amt="0"/>
              </a:blip>
              <a:stretch>
                <a:fillRect l="0" t="-194566" r="-680599" b="-280624"/>
              </a:stretch>
            </a:blipFill>
          </p:spPr>
        </p:sp>
        <p:sp>
          <p:nvSpPr>
            <p:cNvPr name="TextBox 12" id="12"/>
            <p:cNvSpPr txBox="true"/>
            <p:nvPr/>
          </p:nvSpPr>
          <p:spPr>
            <a:xfrm>
              <a:off x="0" y="47625"/>
              <a:ext cx="2694237"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Results</a:t>
              </a:r>
            </a:p>
          </p:txBody>
        </p:sp>
      </p:grpSp>
      <p:sp>
        <p:nvSpPr>
          <p:cNvPr name="Freeform 13" id="13"/>
          <p:cNvSpPr/>
          <p:nvPr/>
        </p:nvSpPr>
        <p:spPr>
          <a:xfrm flipH="false" flipV="false" rot="0">
            <a:off x="1028700" y="2458402"/>
            <a:ext cx="7757932" cy="6012397"/>
          </a:xfrm>
          <a:custGeom>
            <a:avLst/>
            <a:gdLst/>
            <a:ahLst/>
            <a:cxnLst/>
            <a:rect r="r" b="b" t="t" l="l"/>
            <a:pathLst>
              <a:path h="6012397" w="7757932">
                <a:moveTo>
                  <a:pt x="0" y="0"/>
                </a:moveTo>
                <a:lnTo>
                  <a:pt x="7757932" y="0"/>
                </a:lnTo>
                <a:lnTo>
                  <a:pt x="7757932" y="6012397"/>
                </a:lnTo>
                <a:lnTo>
                  <a:pt x="0" y="6012397"/>
                </a:lnTo>
                <a:lnTo>
                  <a:pt x="0" y="0"/>
                </a:lnTo>
                <a:close/>
              </a:path>
            </a:pathLst>
          </a:custGeom>
          <a:blipFill>
            <a:blip r:embed="rId5"/>
            <a:stretch>
              <a:fillRect l="0" t="0" r="0" b="0"/>
            </a:stretch>
          </a:blipFill>
        </p:spPr>
      </p:sp>
      <p:sp>
        <p:nvSpPr>
          <p:cNvPr name="TextBox 14" id="14"/>
          <p:cNvSpPr txBox="true"/>
          <p:nvPr/>
        </p:nvSpPr>
        <p:spPr>
          <a:xfrm rot="0">
            <a:off x="9144000" y="2831005"/>
            <a:ext cx="8274371" cy="5537074"/>
          </a:xfrm>
          <a:prstGeom prst="rect">
            <a:avLst/>
          </a:prstGeom>
        </p:spPr>
        <p:txBody>
          <a:bodyPr anchor="t" rtlCol="false" tIns="0" lIns="0" bIns="0" rIns="0">
            <a:spAutoFit/>
          </a:bodyPr>
          <a:lstStyle/>
          <a:p>
            <a:pPr algn="l">
              <a:lnSpc>
                <a:spcPts val="3132"/>
              </a:lnSpc>
              <a:spcBef>
                <a:spcPct val="0"/>
              </a:spcBef>
            </a:pPr>
            <a:r>
              <a:rPr lang="en-US" b="true" sz="2900">
                <a:solidFill>
                  <a:srgbClr val="000000"/>
                </a:solidFill>
                <a:latin typeface="Canva Sans Bold"/>
                <a:ea typeface="Canva Sans Bold"/>
                <a:cs typeface="Canva Sans Bold"/>
                <a:sym typeface="Canva Sans Bold"/>
              </a:rPr>
              <a:t>Observati</a:t>
            </a:r>
            <a:r>
              <a:rPr lang="en-US" b="true" sz="2900">
                <a:solidFill>
                  <a:srgbClr val="000000"/>
                </a:solidFill>
                <a:latin typeface="Canva Sans Bold"/>
                <a:ea typeface="Canva Sans Bold"/>
                <a:cs typeface="Canva Sans Bold"/>
                <a:sym typeface="Canva Sans Bold"/>
              </a:rPr>
              <a:t>on from Graph</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Base model (red): Points near diagonal → well-calibrated</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Our model (blue): Scattered &amp; flat → poor calibration</a:t>
            </a:r>
          </a:p>
          <a:p>
            <a:pPr algn="l">
              <a:lnSpc>
                <a:spcPts val="3240"/>
              </a:lnSpc>
              <a:spcBef>
                <a:spcPct val="0"/>
              </a:spcBef>
            </a:pPr>
          </a:p>
          <a:p>
            <a:pPr algn="l">
              <a:lnSpc>
                <a:spcPts val="3132"/>
              </a:lnSpc>
              <a:spcBef>
                <a:spcPct val="0"/>
              </a:spcBef>
            </a:pPr>
            <a:r>
              <a:rPr lang="en-US" b="true" sz="2900">
                <a:solidFill>
                  <a:srgbClr val="000000"/>
                </a:solidFill>
                <a:latin typeface="Canva Sans Bold"/>
                <a:ea typeface="Canva Sans Bold"/>
                <a:cs typeface="Canva Sans Bold"/>
                <a:sym typeface="Canva Sans Bold"/>
              </a:rPr>
              <a:t>Key Issues</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Fixed Ensemble Spread</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Same spread for all cases (not realistic)</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No Spread–Error Relationship</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Uncertainty does not increase with error</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Lack of Randomness</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Deterministic perturbations → rigid behavior</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Overfitting Effect</a:t>
            </a:r>
          </a:p>
          <a:p>
            <a:pPr algn="l" marL="539749" indent="-269875" lvl="1">
              <a:lnSpc>
                <a:spcPts val="2699"/>
              </a:lnSpc>
              <a:spcBef>
                <a:spcPct val="0"/>
              </a:spcBef>
              <a:buFont typeface="Arial"/>
              <a:buChar char="•"/>
            </a:pPr>
            <a:r>
              <a:rPr lang="en-US" sz="2499">
                <a:solidFill>
                  <a:srgbClr val="000000"/>
                </a:solidFill>
                <a:latin typeface="Canva Sans"/>
                <a:ea typeface="Canva Sans"/>
                <a:cs typeface="Canva Sans"/>
                <a:sym typeface="Canva Sans"/>
              </a:rPr>
              <a:t>Very low errors, poor generalization</a:t>
            </a:r>
          </a:p>
          <a:p>
            <a:pPr algn="l">
              <a:lnSpc>
                <a:spcPts val="269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6801059" y="420843"/>
            <a:ext cx="4685883" cy="1068671"/>
            <a:chOff x="0" y="0"/>
            <a:chExt cx="6247844" cy="1424895"/>
          </a:xfrm>
        </p:grpSpPr>
        <p:sp>
          <p:nvSpPr>
            <p:cNvPr name="Freeform 11" id="11"/>
            <p:cNvSpPr/>
            <p:nvPr/>
          </p:nvSpPr>
          <p:spPr>
            <a:xfrm flipH="false" flipV="false" rot="0">
              <a:off x="0" y="0"/>
              <a:ext cx="6247843" cy="1424896"/>
            </a:xfrm>
            <a:custGeom>
              <a:avLst/>
              <a:gdLst/>
              <a:ahLst/>
              <a:cxnLst/>
              <a:rect r="r" b="b" t="t" l="l"/>
              <a:pathLst>
                <a:path h="1424896" w="6247843">
                  <a:moveTo>
                    <a:pt x="0" y="0"/>
                  </a:moveTo>
                  <a:lnTo>
                    <a:pt x="6247843" y="0"/>
                  </a:lnTo>
                  <a:lnTo>
                    <a:pt x="6247843" y="1424896"/>
                  </a:lnTo>
                  <a:lnTo>
                    <a:pt x="0" y="1424896"/>
                  </a:lnTo>
                  <a:close/>
                </a:path>
              </a:pathLst>
            </a:custGeom>
            <a:blipFill>
              <a:blip r:embed="rId4">
                <a:alphaModFix amt="0"/>
              </a:blip>
              <a:stretch>
                <a:fillRect l="0" t="-194566" r="-236615" b="-280624"/>
              </a:stretch>
            </a:blipFill>
          </p:spPr>
        </p:sp>
        <p:sp>
          <p:nvSpPr>
            <p:cNvPr name="TextBox 12" id="12"/>
            <p:cNvSpPr txBox="true"/>
            <p:nvPr/>
          </p:nvSpPr>
          <p:spPr>
            <a:xfrm>
              <a:off x="0" y="47625"/>
              <a:ext cx="6247844" cy="1377270"/>
            </a:xfrm>
            <a:prstGeom prst="rect">
              <a:avLst/>
            </a:prstGeom>
          </p:spPr>
          <p:txBody>
            <a:bodyPr anchor="b" rtlCol="false" tIns="0" lIns="0" bIns="0" rIns="0"/>
            <a:lstStyle/>
            <a:p>
              <a:pPr algn="ctr">
                <a:lnSpc>
                  <a:spcPts val="4536"/>
                </a:lnSpc>
              </a:pPr>
              <a:r>
                <a:rPr lang="en-US" sz="4200" b="true">
                  <a:solidFill>
                    <a:srgbClr val="7D1916"/>
                  </a:solidFill>
                  <a:latin typeface="Canva Sans Bold"/>
                  <a:ea typeface="Canva Sans Bold"/>
                  <a:cs typeface="Canva Sans Bold"/>
                  <a:sym typeface="Canva Sans Bold"/>
                </a:rPr>
                <a:t>Inference</a:t>
              </a:r>
            </a:p>
          </p:txBody>
        </p:sp>
      </p:grpSp>
      <p:sp>
        <p:nvSpPr>
          <p:cNvPr name="TextBox 13" id="13"/>
          <p:cNvSpPr txBox="true"/>
          <p:nvPr/>
        </p:nvSpPr>
        <p:spPr>
          <a:xfrm rot="0">
            <a:off x="538220" y="1688430"/>
            <a:ext cx="10384158" cy="6938716"/>
          </a:xfrm>
          <a:prstGeom prst="rect">
            <a:avLst/>
          </a:prstGeom>
        </p:spPr>
        <p:txBody>
          <a:bodyPr anchor="t" rtlCol="false" tIns="0" lIns="0" bIns="0" rIns="0">
            <a:spAutoFit/>
          </a:bodyPr>
          <a:lstStyle/>
          <a:p>
            <a:pPr algn="l">
              <a:lnSpc>
                <a:spcPts val="3132"/>
              </a:lnSpc>
            </a:pPr>
            <a:r>
              <a:rPr lang="en-US" sz="2900" b="true">
                <a:solidFill>
                  <a:srgbClr val="000000"/>
                </a:solidFill>
                <a:latin typeface="Canva Sans Bold"/>
                <a:ea typeface="Canva Sans Bold"/>
                <a:cs typeface="Canva Sans Bold"/>
                <a:sym typeface="Canva Sans Bold"/>
              </a:rPr>
              <a:t>Fr</a:t>
            </a:r>
            <a:r>
              <a:rPr lang="en-US" sz="2900" b="true">
                <a:solidFill>
                  <a:srgbClr val="000000"/>
                </a:solidFill>
                <a:latin typeface="Canva Sans Bold"/>
                <a:ea typeface="Canva Sans Bold"/>
                <a:cs typeface="Canva Sans Bold"/>
                <a:sym typeface="Canva Sans Bold"/>
              </a:rPr>
              <a:t>om Domain (Weather) Perspective</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Extreme events are rare (~2.2%) but high-impact</a:t>
            </a:r>
          </a:p>
          <a:p>
            <a:pPr algn="l">
              <a:lnSpc>
                <a:spcPts val="2699"/>
              </a:lnSpc>
            </a:pP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Deterministic models fail to capture uncertainty in weather systems</a:t>
            </a:r>
          </a:p>
          <a:p>
            <a:pPr algn="l">
              <a:lnSpc>
                <a:spcPts val="2699"/>
              </a:lnSpc>
            </a:pP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Evidence of non-stationarity (extremes clustered before 1950)</a:t>
            </a:r>
          </a:p>
          <a:p>
            <a:pPr algn="l">
              <a:lnSpc>
                <a:spcPts val="2699"/>
              </a:lnSpc>
            </a:pP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Probabilistic modeling enables risk-aware decision making</a:t>
            </a:r>
          </a:p>
          <a:p>
            <a:pPr algn="l">
              <a:lnSpc>
                <a:spcPts val="3564"/>
              </a:lnSpc>
            </a:pPr>
          </a:p>
          <a:p>
            <a:pPr algn="l">
              <a:lnSpc>
                <a:spcPts val="3132"/>
              </a:lnSpc>
            </a:pPr>
            <a:r>
              <a:rPr lang="en-US" sz="2900" b="true">
                <a:solidFill>
                  <a:srgbClr val="000000"/>
                </a:solidFill>
                <a:latin typeface="Canva Sans Bold"/>
                <a:ea typeface="Canva Sans Bold"/>
                <a:cs typeface="Canva Sans Bold"/>
                <a:sym typeface="Canva Sans Bold"/>
              </a:rPr>
              <a:t>From Computer Science Perspective</a:t>
            </a: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Accuracy is misleading in imbalanced datasets</a:t>
            </a:r>
          </a:p>
          <a:p>
            <a:pPr algn="l">
              <a:lnSpc>
                <a:spcPts val="2699"/>
              </a:lnSpc>
            </a:pP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Deterministic models → stable but poor uncertainty modeling</a:t>
            </a:r>
          </a:p>
          <a:p>
            <a:pPr algn="l">
              <a:lnSpc>
                <a:spcPts val="2699"/>
              </a:lnSpc>
            </a:pP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Randomized models → better calibration &amp; real-world representation</a:t>
            </a:r>
          </a:p>
          <a:p>
            <a:pPr algn="l">
              <a:lnSpc>
                <a:spcPts val="2699"/>
              </a:lnSpc>
            </a:pPr>
          </a:p>
          <a:p>
            <a:pPr algn="l" marL="539749" indent="-269875" lvl="1">
              <a:lnSpc>
                <a:spcPts val="2699"/>
              </a:lnSpc>
              <a:buFont typeface="Arial"/>
              <a:buChar char="•"/>
            </a:pPr>
            <a:r>
              <a:rPr lang="en-US" sz="2499">
                <a:solidFill>
                  <a:srgbClr val="000000"/>
                </a:solidFill>
                <a:latin typeface="Canva Sans"/>
                <a:ea typeface="Canva Sans"/>
                <a:cs typeface="Canva Sans"/>
                <a:sym typeface="Canva Sans"/>
              </a:rPr>
              <a:t>Metrics like Brier Score &amp; spread-skill are more meaningful</a:t>
            </a:r>
          </a:p>
          <a:p>
            <a:pPr algn="l">
              <a:lnSpc>
                <a:spcPts val="2916"/>
              </a:lnSpc>
            </a:pPr>
          </a:p>
        </p:txBody>
      </p:sp>
      <p:sp>
        <p:nvSpPr>
          <p:cNvPr name="Freeform 14" id="14"/>
          <p:cNvSpPr/>
          <p:nvPr/>
        </p:nvSpPr>
        <p:spPr>
          <a:xfrm flipH="false" flipV="false" rot="0">
            <a:off x="10886267" y="2817744"/>
            <a:ext cx="6860822" cy="4065937"/>
          </a:xfrm>
          <a:custGeom>
            <a:avLst/>
            <a:gdLst/>
            <a:ahLst/>
            <a:cxnLst/>
            <a:rect r="r" b="b" t="t" l="l"/>
            <a:pathLst>
              <a:path h="4065937" w="6860822">
                <a:moveTo>
                  <a:pt x="0" y="0"/>
                </a:moveTo>
                <a:lnTo>
                  <a:pt x="6860823" y="0"/>
                </a:lnTo>
                <a:lnTo>
                  <a:pt x="6860823" y="4065937"/>
                </a:lnTo>
                <a:lnTo>
                  <a:pt x="0" y="4065937"/>
                </a:lnTo>
                <a:lnTo>
                  <a:pt x="0" y="0"/>
                </a:lnTo>
                <a:close/>
              </a:path>
            </a:pathLst>
          </a:custGeom>
          <a:blipFill>
            <a:blip r:embed="rId5"/>
            <a:stretch>
              <a:fillRect l="-5395" t="-15725" r="-4905" b="-8276"/>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38220" y="9058418"/>
            <a:ext cx="2048723" cy="898484"/>
            <a:chOff x="0" y="0"/>
            <a:chExt cx="2731630" cy="1197978"/>
          </a:xfrm>
        </p:grpSpPr>
        <p:sp>
          <p:nvSpPr>
            <p:cNvPr name="Freeform 9" id="9"/>
            <p:cNvSpPr/>
            <p:nvPr/>
          </p:nvSpPr>
          <p:spPr>
            <a:xfrm flipH="false" flipV="false" rot="0">
              <a:off x="0" y="0"/>
              <a:ext cx="2731643" cy="1197991"/>
            </a:xfrm>
            <a:custGeom>
              <a:avLst/>
              <a:gdLst/>
              <a:ahLst/>
              <a:cxnLst/>
              <a:rect r="r" b="b" t="t" l="l"/>
              <a:pathLst>
                <a:path h="1197991" w="2731643">
                  <a:moveTo>
                    <a:pt x="0" y="0"/>
                  </a:moveTo>
                  <a:lnTo>
                    <a:pt x="2731643" y="0"/>
                  </a:lnTo>
                  <a:lnTo>
                    <a:pt x="2731643" y="1197991"/>
                  </a:lnTo>
                  <a:lnTo>
                    <a:pt x="0" y="1197991"/>
                  </a:lnTo>
                  <a:lnTo>
                    <a:pt x="0" y="0"/>
                  </a:lnTo>
                  <a:close/>
                </a:path>
              </a:pathLst>
            </a:custGeom>
            <a:blipFill>
              <a:blip r:embed="rId3"/>
              <a:stretch>
                <a:fillRect l="-72571" t="-164491" r="-72154" b="-164855"/>
              </a:stretch>
            </a:blipFill>
          </p:spPr>
        </p:sp>
      </p:grpSp>
      <p:grpSp>
        <p:nvGrpSpPr>
          <p:cNvPr name="Group 10" id="10"/>
          <p:cNvGrpSpPr/>
          <p:nvPr/>
        </p:nvGrpSpPr>
        <p:grpSpPr>
          <a:xfrm rot="0">
            <a:off x="7955941" y="494364"/>
            <a:ext cx="3016199" cy="1068671"/>
            <a:chOff x="0" y="0"/>
            <a:chExt cx="4021598" cy="1424895"/>
          </a:xfrm>
        </p:grpSpPr>
        <p:sp>
          <p:nvSpPr>
            <p:cNvPr name="Freeform 11" id="11"/>
            <p:cNvSpPr/>
            <p:nvPr/>
          </p:nvSpPr>
          <p:spPr>
            <a:xfrm flipH="false" flipV="false" rot="0">
              <a:off x="0" y="0"/>
              <a:ext cx="4021598" cy="1424896"/>
            </a:xfrm>
            <a:custGeom>
              <a:avLst/>
              <a:gdLst/>
              <a:ahLst/>
              <a:cxnLst/>
              <a:rect r="r" b="b" t="t" l="l"/>
              <a:pathLst>
                <a:path h="1424896" w="4021598">
                  <a:moveTo>
                    <a:pt x="0" y="0"/>
                  </a:moveTo>
                  <a:lnTo>
                    <a:pt x="4021598" y="0"/>
                  </a:lnTo>
                  <a:lnTo>
                    <a:pt x="4021598" y="1424896"/>
                  </a:lnTo>
                  <a:lnTo>
                    <a:pt x="0" y="1424896"/>
                  </a:lnTo>
                  <a:close/>
                </a:path>
              </a:pathLst>
            </a:custGeom>
            <a:blipFill>
              <a:blip r:embed="rId4">
                <a:alphaModFix amt="0"/>
              </a:blip>
              <a:stretch>
                <a:fillRect l="0" t="-194566" r="-422956" b="-280624"/>
              </a:stretch>
            </a:blipFill>
          </p:spPr>
        </p:sp>
        <p:sp>
          <p:nvSpPr>
            <p:cNvPr name="TextBox 12" id="12"/>
            <p:cNvSpPr txBox="true"/>
            <p:nvPr/>
          </p:nvSpPr>
          <p:spPr>
            <a:xfrm>
              <a:off x="0" y="47625"/>
              <a:ext cx="4021598" cy="1377270"/>
            </a:xfrm>
            <a:prstGeom prst="rect">
              <a:avLst/>
            </a:prstGeom>
          </p:spPr>
          <p:txBody>
            <a:bodyPr anchor="b" rtlCol="false" tIns="0" lIns="0" bIns="0" rIns="0"/>
            <a:lstStyle/>
            <a:p>
              <a:pPr algn="l">
                <a:lnSpc>
                  <a:spcPts val="4536"/>
                </a:lnSpc>
              </a:pPr>
              <a:r>
                <a:rPr lang="en-US" sz="4200" b="true">
                  <a:solidFill>
                    <a:srgbClr val="7D1916"/>
                  </a:solidFill>
                  <a:latin typeface="Canva Sans Bold"/>
                  <a:ea typeface="Canva Sans Bold"/>
                  <a:cs typeface="Canva Sans Bold"/>
                  <a:sym typeface="Canva Sans Bold"/>
                </a:rPr>
                <a:t>References</a:t>
              </a:r>
            </a:p>
          </p:txBody>
        </p:sp>
      </p:grpSp>
      <p:sp>
        <p:nvSpPr>
          <p:cNvPr name="TextBox 13" id="13"/>
          <p:cNvSpPr txBox="true"/>
          <p:nvPr/>
        </p:nvSpPr>
        <p:spPr>
          <a:xfrm rot="0">
            <a:off x="1668780" y="1954292"/>
            <a:ext cx="15590520" cy="4010025"/>
          </a:xfrm>
          <a:prstGeom prst="rect">
            <a:avLst/>
          </a:prstGeom>
        </p:spPr>
        <p:txBody>
          <a:bodyPr anchor="t" rtlCol="false" tIns="0" lIns="0" bIns="0" rIns="0">
            <a:spAutoFit/>
          </a:bodyPr>
          <a:lstStyle/>
          <a:p>
            <a:pPr algn="l">
              <a:lnSpc>
                <a:spcPts val="2699"/>
              </a:lnSpc>
            </a:pPr>
            <a:r>
              <a:rPr lang="en-US" sz="2499">
                <a:solidFill>
                  <a:srgbClr val="000000"/>
                </a:solidFill>
                <a:latin typeface="Canva Sans"/>
                <a:ea typeface="Canva Sans"/>
                <a:cs typeface="Canva Sans"/>
                <a:sym typeface="Canva Sans"/>
              </a:rPr>
              <a:t>Multiuser detection for S-UMTS and GMR-1 mobile systems. (2006, August 1). IEEE Conference Publication | IEEE Xplore. https://ieeexplore.ieee.org/document/4100561</a:t>
            </a:r>
          </a:p>
          <a:p>
            <a:pPr algn="l">
              <a:lnSpc>
                <a:spcPts val="2699"/>
              </a:lnSpc>
            </a:pPr>
          </a:p>
          <a:p>
            <a:pPr algn="l">
              <a:lnSpc>
                <a:spcPts val="2699"/>
              </a:lnSpc>
            </a:pPr>
            <a:r>
              <a:rPr lang="en-US" sz="2499">
                <a:solidFill>
                  <a:srgbClr val="000000"/>
                </a:solidFill>
                <a:latin typeface="Canva Sans"/>
                <a:ea typeface="Canva Sans"/>
                <a:cs typeface="Canva Sans"/>
                <a:sym typeface="Canva Sans"/>
              </a:rPr>
              <a:t>https://medium.com/%40arpitashekhar9/long-tail-problems-of-eta-prediction-systems-529ba4481a66</a:t>
            </a:r>
          </a:p>
          <a:p>
            <a:pPr algn="l">
              <a:lnSpc>
                <a:spcPts val="2699"/>
              </a:lnSpc>
            </a:pPr>
          </a:p>
          <a:p>
            <a:pPr algn="l">
              <a:lnSpc>
                <a:spcPts val="2699"/>
              </a:lnSpc>
            </a:pPr>
            <a:r>
              <a:rPr lang="en-US" sz="2499">
                <a:solidFill>
                  <a:srgbClr val="000000"/>
                </a:solidFill>
                <a:latin typeface="Canva Sans"/>
                <a:ea typeface="Canva Sans"/>
                <a:cs typeface="Canva Sans"/>
                <a:sym typeface="Canva Sans"/>
              </a:rPr>
              <a:t>https://news.stanford.edu/stories/2021/12/warming-makes-weather-less-predictable?utm_source=chatgpt.com</a:t>
            </a:r>
          </a:p>
          <a:p>
            <a:pPr algn="l">
              <a:lnSpc>
                <a:spcPts val="2699"/>
              </a:lnSpc>
            </a:pPr>
          </a:p>
          <a:p>
            <a:pPr algn="l">
              <a:lnSpc>
                <a:spcPts val="2699"/>
              </a:lnSpc>
            </a:pPr>
            <a:r>
              <a:rPr lang="en-US" sz="2499">
                <a:solidFill>
                  <a:srgbClr val="000000"/>
                </a:solidFill>
                <a:latin typeface="Canva Sans"/>
                <a:ea typeface="Canva Sans"/>
                <a:cs typeface="Canva Sans"/>
                <a:sym typeface="Canva Sans"/>
              </a:rPr>
              <a:t>https://www.upgrad.com/blog/python-cheat-sheet/</a:t>
            </a:r>
          </a:p>
          <a:p>
            <a:pPr algn="l">
              <a:lnSpc>
                <a:spcPts val="2699"/>
              </a:lnSpc>
            </a:pPr>
          </a:p>
          <a:p>
            <a:pPr algn="l">
              <a:lnSpc>
                <a:spcPts val="26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2F1EE"/>
        </a:solidFill>
      </p:bgPr>
    </p:bg>
    <p:spTree>
      <p:nvGrpSpPr>
        <p:cNvPr id="1" name=""/>
        <p:cNvGrpSpPr/>
        <p:nvPr/>
      </p:nvGrpSpPr>
      <p:grpSpPr>
        <a:xfrm>
          <a:off x="0" y="0"/>
          <a:ext cx="0" cy="0"/>
          <a:chOff x="0" y="0"/>
          <a:chExt cx="0" cy="0"/>
        </a:xfrm>
      </p:grpSpPr>
      <p:grpSp>
        <p:nvGrpSpPr>
          <p:cNvPr name="Group 2" id="2"/>
          <p:cNvGrpSpPr/>
          <p:nvPr/>
        </p:nvGrpSpPr>
        <p:grpSpPr>
          <a:xfrm rot="0">
            <a:off x="2286000" y="10134600"/>
            <a:ext cx="13716000" cy="152400"/>
            <a:chOff x="0" y="0"/>
            <a:chExt cx="18288000" cy="203200"/>
          </a:xfrm>
        </p:grpSpPr>
        <p:sp>
          <p:nvSpPr>
            <p:cNvPr name="Freeform 3" id="3"/>
            <p:cNvSpPr/>
            <p:nvPr/>
          </p:nvSpPr>
          <p:spPr>
            <a:xfrm flipH="false" flipV="false" rot="0">
              <a:off x="0" y="0"/>
              <a:ext cx="18288000" cy="203200"/>
            </a:xfrm>
            <a:custGeom>
              <a:avLst/>
              <a:gdLst/>
              <a:ahLst/>
              <a:cxnLst/>
              <a:rect r="r" b="b" t="t" l="l"/>
              <a:pathLst>
                <a:path h="203200" w="18288000">
                  <a:moveTo>
                    <a:pt x="0" y="0"/>
                  </a:moveTo>
                  <a:lnTo>
                    <a:pt x="18288000" y="0"/>
                  </a:lnTo>
                  <a:lnTo>
                    <a:pt x="18288000" y="203200"/>
                  </a:lnTo>
                  <a:lnTo>
                    <a:pt x="0" y="203200"/>
                  </a:lnTo>
                  <a:lnTo>
                    <a:pt x="0" y="0"/>
                  </a:lnTo>
                  <a:close/>
                </a:path>
              </a:pathLst>
            </a:custGeom>
            <a:blipFill>
              <a:blip r:embed="rId2"/>
              <a:stretch>
                <a:fillRect l="0" t="-3981" r="0" b="-3981"/>
              </a:stretch>
            </a:blipFill>
          </p:spPr>
        </p:sp>
      </p:grpSp>
      <p:grpSp>
        <p:nvGrpSpPr>
          <p:cNvPr name="Group 4" id="4"/>
          <p:cNvGrpSpPr/>
          <p:nvPr/>
        </p:nvGrpSpPr>
        <p:grpSpPr>
          <a:xfrm rot="0">
            <a:off x="0" y="10134600"/>
            <a:ext cx="3898078" cy="152400"/>
            <a:chOff x="0" y="0"/>
            <a:chExt cx="5197437" cy="203200"/>
          </a:xfrm>
        </p:grpSpPr>
        <p:sp>
          <p:nvSpPr>
            <p:cNvPr name="Freeform 5" id="5"/>
            <p:cNvSpPr/>
            <p:nvPr/>
          </p:nvSpPr>
          <p:spPr>
            <a:xfrm flipH="false" flipV="false" rot="0">
              <a:off x="0" y="0"/>
              <a:ext cx="5197475" cy="203200"/>
            </a:xfrm>
            <a:custGeom>
              <a:avLst/>
              <a:gdLst/>
              <a:ahLst/>
              <a:cxnLst/>
              <a:rect r="r" b="b" t="t" l="l"/>
              <a:pathLst>
                <a:path h="203200" w="5197475">
                  <a:moveTo>
                    <a:pt x="0" y="0"/>
                  </a:moveTo>
                  <a:lnTo>
                    <a:pt x="5197475" y="0"/>
                  </a:lnTo>
                  <a:lnTo>
                    <a:pt x="5197475" y="203200"/>
                  </a:lnTo>
                  <a:lnTo>
                    <a:pt x="0" y="203200"/>
                  </a:lnTo>
                  <a:lnTo>
                    <a:pt x="0" y="0"/>
                  </a:lnTo>
                  <a:close/>
                </a:path>
              </a:pathLst>
            </a:custGeom>
            <a:blipFill>
              <a:blip r:embed="rId2"/>
              <a:stretch>
                <a:fillRect l="0" t="0" r="-286078" b="-18462"/>
              </a:stretch>
            </a:blipFill>
          </p:spPr>
        </p:sp>
      </p:grpSp>
      <p:grpSp>
        <p:nvGrpSpPr>
          <p:cNvPr name="Group 6" id="6"/>
          <p:cNvGrpSpPr/>
          <p:nvPr/>
        </p:nvGrpSpPr>
        <p:grpSpPr>
          <a:xfrm rot="0">
            <a:off x="14389922" y="10134600"/>
            <a:ext cx="3898078" cy="158248"/>
            <a:chOff x="0" y="0"/>
            <a:chExt cx="5197437" cy="210998"/>
          </a:xfrm>
        </p:grpSpPr>
        <p:sp>
          <p:nvSpPr>
            <p:cNvPr name="Freeform 7" id="7"/>
            <p:cNvSpPr/>
            <p:nvPr/>
          </p:nvSpPr>
          <p:spPr>
            <a:xfrm flipH="false" flipV="false" rot="0">
              <a:off x="0" y="0"/>
              <a:ext cx="5197475" cy="210947"/>
            </a:xfrm>
            <a:custGeom>
              <a:avLst/>
              <a:gdLst/>
              <a:ahLst/>
              <a:cxnLst/>
              <a:rect r="r" b="b" t="t" l="l"/>
              <a:pathLst>
                <a:path h="210947" w="5197475">
                  <a:moveTo>
                    <a:pt x="0" y="0"/>
                  </a:moveTo>
                  <a:lnTo>
                    <a:pt x="5197475" y="0"/>
                  </a:lnTo>
                  <a:lnTo>
                    <a:pt x="5197475" y="210947"/>
                  </a:lnTo>
                  <a:lnTo>
                    <a:pt x="0" y="210947"/>
                  </a:lnTo>
                  <a:lnTo>
                    <a:pt x="0" y="0"/>
                  </a:lnTo>
                  <a:close/>
                </a:path>
              </a:pathLst>
            </a:custGeom>
            <a:blipFill>
              <a:blip r:embed="rId2"/>
              <a:stretch>
                <a:fillRect l="0" t="0" r="-300882" b="-18488"/>
              </a:stretch>
            </a:blipFill>
          </p:spPr>
        </p:sp>
      </p:grpSp>
      <p:grpSp>
        <p:nvGrpSpPr>
          <p:cNvPr name="Group 8" id="8"/>
          <p:cNvGrpSpPr/>
          <p:nvPr/>
        </p:nvGrpSpPr>
        <p:grpSpPr>
          <a:xfrm rot="0">
            <a:off x="5758633" y="3966330"/>
            <a:ext cx="6426576" cy="1478047"/>
            <a:chOff x="0" y="0"/>
            <a:chExt cx="8568768" cy="1970730"/>
          </a:xfrm>
        </p:grpSpPr>
        <p:sp>
          <p:nvSpPr>
            <p:cNvPr name="Freeform 9" id="9"/>
            <p:cNvSpPr/>
            <p:nvPr/>
          </p:nvSpPr>
          <p:spPr>
            <a:xfrm flipH="false" flipV="false" rot="0">
              <a:off x="0" y="0"/>
              <a:ext cx="8568768" cy="1970730"/>
            </a:xfrm>
            <a:custGeom>
              <a:avLst/>
              <a:gdLst/>
              <a:ahLst/>
              <a:cxnLst/>
              <a:rect r="r" b="b" t="t" l="l"/>
              <a:pathLst>
                <a:path h="1970730" w="8568768">
                  <a:moveTo>
                    <a:pt x="0" y="0"/>
                  </a:moveTo>
                  <a:lnTo>
                    <a:pt x="8568768" y="0"/>
                  </a:lnTo>
                  <a:lnTo>
                    <a:pt x="8568768" y="1970730"/>
                  </a:lnTo>
                  <a:lnTo>
                    <a:pt x="0" y="1970730"/>
                  </a:lnTo>
                  <a:close/>
                </a:path>
              </a:pathLst>
            </a:custGeom>
            <a:blipFill>
              <a:blip r:embed="rId3">
                <a:alphaModFix amt="0"/>
              </a:blip>
              <a:stretch>
                <a:fillRect l="0" t="-162193" r="-145449" b="-153702"/>
              </a:stretch>
            </a:blipFill>
          </p:spPr>
        </p:sp>
        <p:sp>
          <p:nvSpPr>
            <p:cNvPr name="TextBox 10" id="10"/>
            <p:cNvSpPr txBox="true"/>
            <p:nvPr/>
          </p:nvSpPr>
          <p:spPr>
            <a:xfrm>
              <a:off x="0" y="85725"/>
              <a:ext cx="8568768" cy="1885005"/>
            </a:xfrm>
            <a:prstGeom prst="rect">
              <a:avLst/>
            </a:prstGeom>
          </p:spPr>
          <p:txBody>
            <a:bodyPr anchor="b" rtlCol="false" tIns="0" lIns="0" bIns="0" rIns="0"/>
            <a:lstStyle/>
            <a:p>
              <a:pPr algn="l">
                <a:lnSpc>
                  <a:spcPts val="8099"/>
                </a:lnSpc>
              </a:pPr>
              <a:r>
                <a:rPr lang="en-US" sz="7499" b="true">
                  <a:solidFill>
                    <a:srgbClr val="7D1916"/>
                  </a:solidFill>
                  <a:latin typeface="Canva Sans Bold"/>
                  <a:ea typeface="Canva Sans Bold"/>
                  <a:cs typeface="Canva Sans Bold"/>
                  <a:sym typeface="Canva Sans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DAHGMMop8Qw</dc:identifier>
  <dcterms:modified xsi:type="dcterms:W3CDTF">2011-08-01T06:04:30Z</dcterms:modified>
  <cp:revision>1</cp:revision>
  <dc:title>Background &amp; Motivation</dc:title>
</cp:coreProperties>
</file>